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8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64" d="100"/>
          <a:sy n="164" d="100"/>
        </p:scale>
        <p:origin x="360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c:style val="2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8FA3B1"/>
                </a:solidFill>
                <a:latin typeface="Georgia" panose="02040502050405020303" pitchFamily="18" charset="0"/>
              </a:defRPr>
            </a:pPr>
            <a:r>
              <a:rPr lang="en-IN" sz="1100" b="0" i="0" u="none" strike="noStrike">
                <a:solidFill>
                  <a:srgbClr val="8FA3B1"/>
                </a:solidFill>
                <a:latin typeface="Georgia" panose="02040502050405020303" pitchFamily="18" charset="0"/>
              </a:rPr>
              <a:t>AUC by Stage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AUC</c:v>
                </c:pt>
              </c:strCache>
            </c:strRef>
          </c:tx>
          <c:spPr>
            <a:solidFill>
              <a:srgbClr val="00C9A7"/>
            </a:solidFill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00C9A7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3842-F94D-9619-4CBDEF22B354}"/>
              </c:ext>
            </c:extLst>
          </c:dPt>
          <c:dPt>
            <c:idx val="1"/>
            <c:invertIfNegative val="0"/>
            <c:bubble3D val="0"/>
            <c:spPr>
              <a:solidFill>
                <a:srgbClr val="0098A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3842-F94D-9619-4CBDEF22B354}"/>
              </c:ext>
            </c:extLst>
          </c:dPt>
          <c:dPt>
            <c:idx val="2"/>
            <c:invertIfNegative val="0"/>
            <c:bubble3D val="0"/>
            <c:spPr>
              <a:solidFill>
                <a:srgbClr val="006B8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3842-F94D-9619-4CBDEF22B354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FFFFFF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Stage 1
(Symptoms only)</c:v>
                </c:pt>
                <c:pt idx="1">
                  <c:v>Stage 2
(+ Blood panel)</c:v>
                </c:pt>
                <c:pt idx="2">
                  <c:v>Stage 3
(+ Ultrasound)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0.89</c:v>
                </c:pt>
                <c:pt idx="1">
                  <c:v>0.89900000000000002</c:v>
                </c:pt>
                <c:pt idx="2">
                  <c:v>0.95699999999999996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3842-F94D-9619-4CBDEF22B354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FA3B1"/>
                </a:solidFill>
                <a:latin typeface="Georgia" panose="02040502050405020303" pitchFamily="18" charset="0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"/>
          <c:min val="0.85"/>
        </c:scaling>
        <c:delete val="0"/>
        <c:axPos val="l"/>
        <c:majorGridlines>
          <c:spPr>
            <a:ln w="6350" cap="flat">
              <a:solidFill>
                <a:srgbClr val="2A3F5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FA3B1"/>
                </a:solidFill>
                <a:latin typeface="Georgia" panose="02040502050405020303" pitchFamily="18" charset="0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1B2D40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c:style val="2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8FA3B1"/>
                </a:solidFill>
                <a:latin typeface="Georgia" panose="02040502050405020303" pitchFamily="18" charset="0"/>
              </a:defRPr>
            </a:pPr>
            <a:r>
              <a:rPr lang="en-IN" sz="1100" b="0" i="0" u="none" strike="noStrike">
                <a:solidFill>
                  <a:srgbClr val="8FA3B1"/>
                </a:solidFill>
                <a:latin typeface="Georgia" panose="02040502050405020303" pitchFamily="18" charset="0"/>
              </a:rPr>
              <a:t>Sensitivity % by Stage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Sensitivity</c:v>
                </c:pt>
              </c:strCache>
            </c:strRef>
          </c:tx>
          <c:spPr>
            <a:solidFill>
              <a:srgbClr val="00C9A7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8A74-A042-87F8-55CAF64B6441}"/>
              </c:ext>
            </c:extLst>
          </c:dPt>
          <c:dPt>
            <c:idx val="1"/>
            <c:invertIfNegative val="0"/>
            <c:bubble3D val="0"/>
            <c:spPr>
              <a:solidFill>
                <a:srgbClr val="0098A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8A74-A042-87F8-55CAF64B6441}"/>
              </c:ext>
            </c:extLst>
          </c:dPt>
          <c:dPt>
            <c:idx val="2"/>
            <c:invertIfNegative val="0"/>
            <c:bubble3D val="0"/>
            <c:spPr>
              <a:solidFill>
                <a:srgbClr val="006B8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8A74-A042-87F8-55CAF64B6441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FFFFFF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Stage 1</c:v>
                </c:pt>
                <c:pt idx="1">
                  <c:v>Stage 2</c:v>
                </c:pt>
                <c:pt idx="2">
                  <c:v>Stage 3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86.1</c:v>
                </c:pt>
                <c:pt idx="1">
                  <c:v>91.7</c:v>
                </c:pt>
                <c:pt idx="2">
                  <c:v>94.4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8A74-A042-87F8-55CAF64B6441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FA3B1"/>
                </a:solidFill>
                <a:latin typeface="Georgia" panose="02040502050405020303" pitchFamily="18" charset="0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00"/>
          <c:min val="80"/>
        </c:scaling>
        <c:delete val="0"/>
        <c:axPos val="l"/>
        <c:majorGridlines>
          <c:spPr>
            <a:ln w="6350" cap="flat">
              <a:solidFill>
                <a:srgbClr val="2A3F5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FA3B1"/>
                </a:solidFill>
                <a:latin typeface="Georgia" panose="02040502050405020303" pitchFamily="18" charset="0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1B2D40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602670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9D4245-ADF0-9BAC-96EB-5C1152456A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D4F82F-E25E-2A09-6629-1C105BFCC4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7E2A8F-2575-A092-EA5A-5385F91C03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1794F6-FDC8-E235-DD89-8A4E7C9DB3A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843809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108960" cy="5143500"/>
          </a:xfrm>
          <a:prstGeom prst="rect">
            <a:avLst/>
          </a:prstGeom>
          <a:solidFill>
            <a:srgbClr val="00C9A7"/>
          </a:solidFill>
          <a:ln/>
        </p:spPr>
      </p:sp>
      <p:sp>
        <p:nvSpPr>
          <p:cNvPr id="3" name="Text 1"/>
          <p:cNvSpPr/>
          <p:nvPr/>
        </p:nvSpPr>
        <p:spPr>
          <a:xfrm>
            <a:off x="164592" y="107442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PCOSense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164592" y="2021754"/>
            <a:ext cx="2743200" cy="9500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Progressive Clinical</a:t>
            </a:r>
            <a:endParaRPr lang="en-US" sz="13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Support</a:t>
            </a:r>
            <a:endParaRPr lang="en-US" sz="13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PCOS Diagnosis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164592" y="1830350"/>
            <a:ext cx="2377440" cy="22860"/>
          </a:xfrm>
          <a:prstGeom prst="rect">
            <a:avLst/>
          </a:prstGeom>
          <a:solidFill>
            <a:srgbClr val="1B2D40"/>
          </a:solidFill>
          <a:ln/>
        </p:spPr>
      </p:sp>
      <p:sp>
        <p:nvSpPr>
          <p:cNvPr id="6" name="Text 4"/>
          <p:cNvSpPr/>
          <p:nvPr/>
        </p:nvSpPr>
        <p:spPr>
          <a:xfrm>
            <a:off x="164592" y="474345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 err="1">
                <a:solidFill>
                  <a:srgbClr val="1B2D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BioHackathon</a:t>
            </a:r>
            <a:r>
              <a:rPr lang="en-US" sz="1000" i="1" dirty="0">
                <a:solidFill>
                  <a:srgbClr val="1B2D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2026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474720" y="1005840"/>
            <a:ext cx="5303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Closing the</a:t>
            </a:r>
            <a:endParaRPr lang="en-US" sz="44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Diagnostic Gap.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3474720" y="2788920"/>
            <a:ext cx="5120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8FA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three-stage ML platform that meets clinicians where they are — no blood test required to start.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108960" y="4617720"/>
            <a:ext cx="6035040" cy="525780"/>
          </a:xfrm>
          <a:prstGeom prst="rect">
            <a:avLst/>
          </a:prstGeom>
          <a:solidFill>
            <a:srgbClr val="1B2D40"/>
          </a:solidFill>
          <a:ln/>
        </p:spPr>
      </p:sp>
      <p:sp>
        <p:nvSpPr>
          <p:cNvPr id="10" name="Text 8"/>
          <p:cNvSpPr/>
          <p:nvPr/>
        </p:nvSpPr>
        <p:spPr>
          <a:xfrm>
            <a:off x="3291840" y="4663440"/>
            <a:ext cx="5669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kern="0" spc="100" dirty="0">
                <a:solidFill>
                  <a:srgbClr val="8FA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 ·  SHAP  ·  Calibrated Probabilities  ·  Phenotype Clustering  ·  </a:t>
            </a:r>
            <a:r>
              <a:rPr lang="en-US" sz="950" kern="0" spc="100">
                <a:solidFill>
                  <a:srgbClr val="8FA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Django 5.</a:t>
            </a:r>
            <a:r>
              <a:rPr lang="en-US" sz="950" kern="0" spc="100" dirty="0">
                <a:solidFill>
                  <a:srgbClr val="8FA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0C9A7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16459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20040" y="502920"/>
            <a:ext cx="5943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PCOS Is Everywhere.</a:t>
            </a:r>
            <a:endParaRPr lang="en-US" sz="30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Most Cases Are Invisible.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274320" y="2057400"/>
            <a:ext cx="2011680" cy="1828800"/>
          </a:xfrm>
          <a:prstGeom prst="rect">
            <a:avLst/>
          </a:prstGeom>
          <a:solidFill>
            <a:srgbClr val="1B2D40"/>
          </a:solidFill>
          <a:ln/>
          <a:effectLst>
            <a:outerShdw blurRad="1270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2057400"/>
            <a:ext cx="2011680" cy="50292"/>
          </a:xfrm>
          <a:prstGeom prst="rect">
            <a:avLst/>
          </a:prstGeom>
          <a:solidFill>
            <a:srgbClr val="00C9A7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219456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00C9A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8–13%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274320" y="2999232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100" dirty="0">
                <a:solidFill>
                  <a:srgbClr val="8FA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reproductive-age</a:t>
            </a:r>
            <a:endParaRPr lang="en-US" sz="11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100" dirty="0">
                <a:solidFill>
                  <a:srgbClr val="8FA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women affected globally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450592" y="2057400"/>
            <a:ext cx="2011680" cy="1828800"/>
          </a:xfrm>
          <a:prstGeom prst="rect">
            <a:avLst/>
          </a:prstGeom>
          <a:solidFill>
            <a:srgbClr val="1B2D40"/>
          </a:solidFill>
          <a:ln/>
          <a:effectLst>
            <a:outerShdw blurRad="1270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450592" y="2057400"/>
            <a:ext cx="2011680" cy="50292"/>
          </a:xfrm>
          <a:prstGeom prst="rect">
            <a:avLst/>
          </a:prstGeom>
          <a:solidFill>
            <a:srgbClr val="00C9A7"/>
          </a:solidFill>
          <a:ln/>
        </p:spPr>
      </p:sp>
      <p:sp>
        <p:nvSpPr>
          <p:cNvPr id="11" name="Text 9"/>
          <p:cNvSpPr/>
          <p:nvPr/>
        </p:nvSpPr>
        <p:spPr>
          <a:xfrm>
            <a:off x="2450592" y="219456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00C9A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70%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2450592" y="2999232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100" dirty="0">
                <a:solidFill>
                  <a:srgbClr val="8FA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cases remain</a:t>
            </a:r>
            <a:endParaRPr lang="en-US" sz="11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100" dirty="0">
                <a:solidFill>
                  <a:srgbClr val="8FA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undiagnosed (WHO)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626864" y="2057400"/>
            <a:ext cx="2011680" cy="1828800"/>
          </a:xfrm>
          <a:prstGeom prst="rect">
            <a:avLst/>
          </a:prstGeom>
          <a:solidFill>
            <a:srgbClr val="1B2D40"/>
          </a:solidFill>
          <a:ln/>
          <a:effectLst>
            <a:outerShdw blurRad="1270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626864" y="2057400"/>
            <a:ext cx="2011680" cy="50292"/>
          </a:xfrm>
          <a:prstGeom prst="rect">
            <a:avLst/>
          </a:prstGeom>
          <a:solidFill>
            <a:srgbClr val="00C9A7"/>
          </a:solidFill>
          <a:ln/>
        </p:spPr>
      </p:sp>
      <p:sp>
        <p:nvSpPr>
          <p:cNvPr id="15" name="Text 13"/>
          <p:cNvSpPr/>
          <p:nvPr/>
        </p:nvSpPr>
        <p:spPr>
          <a:xfrm>
            <a:off x="4626864" y="219456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00C9A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2+ yrs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4626864" y="2999232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100" dirty="0">
                <a:solidFill>
                  <a:srgbClr val="8FA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wait time</a:t>
            </a:r>
            <a:endParaRPr lang="en-US" sz="11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100" dirty="0">
                <a:solidFill>
                  <a:srgbClr val="8FA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diagnosis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803136" y="2057400"/>
            <a:ext cx="2011680" cy="1828800"/>
          </a:xfrm>
          <a:prstGeom prst="rect">
            <a:avLst/>
          </a:prstGeom>
          <a:solidFill>
            <a:srgbClr val="1B2D40"/>
          </a:solidFill>
          <a:ln/>
          <a:effectLst>
            <a:outerShdw blurRad="127000" dist="38100" dir="81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803136" y="2057400"/>
            <a:ext cx="2011680" cy="50292"/>
          </a:xfrm>
          <a:prstGeom prst="rect">
            <a:avLst/>
          </a:prstGeom>
          <a:solidFill>
            <a:srgbClr val="00C9A7"/>
          </a:solidFill>
          <a:ln/>
        </p:spPr>
      </p:sp>
      <p:sp>
        <p:nvSpPr>
          <p:cNvPr id="19" name="Text 17"/>
          <p:cNvSpPr/>
          <p:nvPr/>
        </p:nvSpPr>
        <p:spPr>
          <a:xfrm>
            <a:off x="6803136" y="219456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00C9A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3+</a:t>
            </a:r>
            <a:endParaRPr lang="en-US" sz="3600" dirty="0"/>
          </a:p>
        </p:txBody>
      </p:sp>
      <p:sp>
        <p:nvSpPr>
          <p:cNvPr id="20" name="Text 18"/>
          <p:cNvSpPr/>
          <p:nvPr/>
        </p:nvSpPr>
        <p:spPr>
          <a:xfrm>
            <a:off x="6803136" y="2999232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100" dirty="0">
                <a:solidFill>
                  <a:srgbClr val="8FA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clinicians seen before</a:t>
            </a:r>
            <a:endParaRPr lang="en-US" sz="11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100" dirty="0">
                <a:solidFill>
                  <a:srgbClr val="8FA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diagnosis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20040" y="4160520"/>
            <a:ext cx="8503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not a data problem — it is a clinical synthesis problem.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320040" y="4526280"/>
            <a:ext cx="8503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8FA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PCOS has no single confirmatory test. Diagnosis demands simultaneous synthesis of symptoms, hormones, and imaging — under time pressure.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0C9A7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16459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OVERVIEW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20040" y="457200"/>
            <a:ext cx="8503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2B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PCOSense: A Staged Diagnostic Engine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20040" y="987552"/>
            <a:ext cx="8503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FA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Meeting clinicians where they are — from a GP's first consultation to a specialist's imaging review.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320040" y="1463040"/>
            <a:ext cx="2697480" cy="32004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" y="1463040"/>
            <a:ext cx="2697480" cy="640080"/>
          </a:xfrm>
          <a:prstGeom prst="rect">
            <a:avLst/>
          </a:prstGeom>
          <a:solidFill>
            <a:srgbClr val="00C9A7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527048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2240280" y="1481328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000" b="1" dirty="0">
                <a:solidFill>
                  <a:srgbClr val="FFFFFF">
                    <a:alpha val="70000"/>
                  </a:srgbClr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457200" y="2148840"/>
            <a:ext cx="2423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A2B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Symptomatic</a:t>
            </a:r>
            <a:endParaRPr lang="en-US" sz="16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A2B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Screening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57200" y="2852928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8FA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blood test required.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8FA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Symptoms + anthropometrics.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" y="3547872"/>
            <a:ext cx="2697480" cy="658368"/>
          </a:xfrm>
          <a:prstGeom prst="rect">
            <a:avLst/>
          </a:prstGeom>
          <a:solidFill>
            <a:srgbClr val="F4F7FA"/>
          </a:solidFill>
          <a:ln/>
        </p:spPr>
      </p:sp>
      <p:sp>
        <p:nvSpPr>
          <p:cNvPr id="13" name="Text 11"/>
          <p:cNvSpPr/>
          <p:nvPr/>
        </p:nvSpPr>
        <p:spPr>
          <a:xfrm>
            <a:off x="411480" y="3593592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 0.890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11480" y="3867912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FA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Sensitivity 86.1%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200400" y="1463040"/>
            <a:ext cx="2697480" cy="32004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200400" y="1463040"/>
            <a:ext cx="2697480" cy="640080"/>
          </a:xfrm>
          <a:prstGeom prst="rect">
            <a:avLst/>
          </a:prstGeom>
          <a:solidFill>
            <a:srgbClr val="0098A3"/>
          </a:solidFill>
          <a:ln/>
        </p:spPr>
      </p:sp>
      <p:sp>
        <p:nvSpPr>
          <p:cNvPr id="17" name="Text 15"/>
          <p:cNvSpPr/>
          <p:nvPr/>
        </p:nvSpPr>
        <p:spPr>
          <a:xfrm>
            <a:off x="3337560" y="1527048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5120640" y="1481328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000" b="1" dirty="0">
                <a:solidFill>
                  <a:srgbClr val="FFFFFF">
                    <a:alpha val="70000"/>
                  </a:srgbClr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3337560" y="2148840"/>
            <a:ext cx="2423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A2B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Hormonal &amp;</a:t>
            </a:r>
            <a:endParaRPr lang="en-US" sz="16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A2B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Metabolic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3337560" y="2852928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8FA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Blood panel markers.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8FA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LH, AMH, TSH, glucose.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200400" y="3547872"/>
            <a:ext cx="2697480" cy="658368"/>
          </a:xfrm>
          <a:prstGeom prst="rect">
            <a:avLst/>
          </a:prstGeom>
          <a:solidFill>
            <a:srgbClr val="F4F7FA"/>
          </a:solidFill>
          <a:ln/>
        </p:spPr>
      </p:sp>
      <p:sp>
        <p:nvSpPr>
          <p:cNvPr id="22" name="Text 20"/>
          <p:cNvSpPr/>
          <p:nvPr/>
        </p:nvSpPr>
        <p:spPr>
          <a:xfrm>
            <a:off x="3291840" y="3593592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98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 0.899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291840" y="3867912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FA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Sensitivity 91.7%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080760" y="1463040"/>
            <a:ext cx="2697480" cy="32004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9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080760" y="1463040"/>
            <a:ext cx="2697480" cy="640080"/>
          </a:xfrm>
          <a:prstGeom prst="rect">
            <a:avLst/>
          </a:prstGeom>
          <a:solidFill>
            <a:srgbClr val="006B8A"/>
          </a:solidFill>
          <a:ln/>
        </p:spPr>
      </p:sp>
      <p:sp>
        <p:nvSpPr>
          <p:cNvPr id="26" name="Text 24"/>
          <p:cNvSpPr/>
          <p:nvPr/>
        </p:nvSpPr>
        <p:spPr>
          <a:xfrm>
            <a:off x="6217920" y="1527048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3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8001000" y="1481328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000" b="1" dirty="0">
                <a:solidFill>
                  <a:srgbClr val="FFFFFF">
                    <a:alpha val="70000"/>
                  </a:srgbClr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3000" dirty="0"/>
          </a:p>
        </p:txBody>
      </p:sp>
      <p:sp>
        <p:nvSpPr>
          <p:cNvPr id="28" name="Text 26"/>
          <p:cNvSpPr/>
          <p:nvPr/>
        </p:nvSpPr>
        <p:spPr>
          <a:xfrm>
            <a:off x="6217920" y="2148840"/>
            <a:ext cx="2423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A2B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Imaging</a:t>
            </a:r>
            <a:endParaRPr lang="en-US" sz="160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A2B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Integration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6217920" y="2852928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8FA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Ultrasound findings.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8FA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Follicle counts + endometrium.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080760" y="3547872"/>
            <a:ext cx="2697480" cy="658368"/>
          </a:xfrm>
          <a:prstGeom prst="rect">
            <a:avLst/>
          </a:prstGeom>
          <a:solidFill>
            <a:srgbClr val="F4F7FA"/>
          </a:solidFill>
          <a:ln/>
        </p:spPr>
      </p:sp>
      <p:sp>
        <p:nvSpPr>
          <p:cNvPr id="31" name="Text 29"/>
          <p:cNvSpPr/>
          <p:nvPr/>
        </p:nvSpPr>
        <p:spPr>
          <a:xfrm>
            <a:off x="6172200" y="3593592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 0.957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172200" y="3867912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FA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Sensitivity 94.4%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017520" y="2852928"/>
            <a:ext cx="137160" cy="22860"/>
          </a:xfrm>
          <a:prstGeom prst="rect">
            <a:avLst/>
          </a:prstGeom>
          <a:solidFill>
            <a:srgbClr val="8FA3B1"/>
          </a:solidFill>
          <a:ln/>
        </p:spPr>
      </p:sp>
      <p:sp>
        <p:nvSpPr>
          <p:cNvPr id="34" name="Text 32"/>
          <p:cNvSpPr/>
          <p:nvPr/>
        </p:nvSpPr>
        <p:spPr>
          <a:xfrm>
            <a:off x="3063240" y="2779776"/>
            <a:ext cx="1645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FA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897880" y="2852928"/>
            <a:ext cx="137160" cy="22860"/>
          </a:xfrm>
          <a:prstGeom prst="rect">
            <a:avLst/>
          </a:prstGeom>
          <a:solidFill>
            <a:srgbClr val="8FA3B1"/>
          </a:solidFill>
          <a:ln/>
        </p:spPr>
      </p:sp>
      <p:sp>
        <p:nvSpPr>
          <p:cNvPr id="36" name="Text 34"/>
          <p:cNvSpPr/>
          <p:nvPr/>
        </p:nvSpPr>
        <p:spPr>
          <a:xfrm>
            <a:off x="5943600" y="2779776"/>
            <a:ext cx="1645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FA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0C9A7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164592"/>
            <a:ext cx="3205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1 — SYMPTOMATIC SCREENING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20040" y="457200"/>
            <a:ext cx="8503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2B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Lab Required. No Specialist Needed.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20040" y="1097280"/>
            <a:ext cx="4114800" cy="36118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02920" y="118872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Input Features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02920" y="1572768"/>
            <a:ext cx="3749040" cy="2971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150" dirty="0">
                <a:solidFill>
                  <a:srgbClr val="1A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Menstrual cycle regularity &amp; length</a:t>
            </a:r>
            <a:endParaRPr lang="en-US" sz="115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150" dirty="0">
                <a:solidFill>
                  <a:srgbClr val="1A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BMI, weight, height</a:t>
            </a:r>
            <a:endParaRPr lang="en-US" sz="115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150" dirty="0">
                <a:solidFill>
                  <a:srgbClr val="1A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Waist &amp; hip circumference, WHR</a:t>
            </a:r>
            <a:endParaRPr lang="en-US" sz="115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150" dirty="0">
                <a:solidFill>
                  <a:srgbClr val="1A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Self-reported weight gain</a:t>
            </a:r>
            <a:endParaRPr lang="en-US" sz="115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150" dirty="0">
                <a:solidFill>
                  <a:srgbClr val="1A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Excess hair growth (hirsutism)</a:t>
            </a:r>
            <a:endParaRPr lang="en-US" sz="115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150" dirty="0">
                <a:solidFill>
                  <a:srgbClr val="1A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Skin darkening (acanthosis)</a:t>
            </a:r>
            <a:endParaRPr lang="en-US" sz="115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150" dirty="0">
                <a:solidFill>
                  <a:srgbClr val="1A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Hair loss &amp; acne</a:t>
            </a:r>
            <a:endParaRPr lang="en-US" sz="115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150" dirty="0">
                <a:solidFill>
                  <a:srgbClr val="1A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food frequency</a:t>
            </a:r>
            <a:endParaRPr lang="en-US" sz="115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150" dirty="0">
                <a:solidFill>
                  <a:srgbClr val="1A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Exercise habits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709160" y="1097280"/>
            <a:ext cx="4114800" cy="1600200"/>
          </a:xfrm>
          <a:prstGeom prst="rect">
            <a:avLst/>
          </a:prstGeom>
          <a:solidFill>
            <a:srgbClr val="0D1B2A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892040" y="118872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at Stage 1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892040" y="1554480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FA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812280" y="1554480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0.890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892040" y="1801368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FA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Sensitivity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812280" y="1801368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86.1%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892040" y="2048256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FA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Specificity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812280" y="2048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71.2%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92040" y="2295144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FA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812280" y="2295144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0.16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709160" y="2834640"/>
            <a:ext cx="4114800" cy="1874520"/>
          </a:xfrm>
          <a:prstGeom prst="rect">
            <a:avLst/>
          </a:prstGeom>
          <a:solidFill>
            <a:srgbClr val="F4F7FA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92040" y="2926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Position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892040" y="3264408"/>
            <a:ext cx="37490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A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1 is designed for:</a:t>
            </a:r>
            <a:endParaRPr lang="en-US" sz="1100" dirty="0"/>
          </a:p>
          <a:p>
            <a:pPr lvl="1">
              <a:lnSpc>
                <a:spcPct val="130000"/>
              </a:lnSpc>
            </a:pPr>
            <a:r>
              <a:rPr lang="en-US" sz="1100" dirty="0">
                <a:solidFill>
                  <a:srgbClr val="1A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Primary care GPs</a:t>
            </a:r>
            <a:endParaRPr lang="en-US" sz="1100" dirty="0"/>
          </a:p>
          <a:p>
            <a:pPr lvl="1">
              <a:lnSpc>
                <a:spcPct val="130000"/>
              </a:lnSpc>
            </a:pPr>
            <a:r>
              <a:rPr lang="en-US" sz="1100" dirty="0">
                <a:solidFill>
                  <a:srgbClr val="1A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Telehealth triage</a:t>
            </a:r>
            <a:endParaRPr lang="en-US" sz="1100" dirty="0"/>
          </a:p>
          <a:p>
            <a:pPr lvl="1">
              <a:lnSpc>
                <a:spcPct val="130000"/>
              </a:lnSpc>
            </a:pPr>
            <a:r>
              <a:rPr lang="en-US" sz="1100" dirty="0">
                <a:solidFill>
                  <a:srgbClr val="1A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Community health workers</a:t>
            </a:r>
            <a:endParaRPr lang="en-US" sz="1100" dirty="0"/>
          </a:p>
          <a:p>
            <a:pPr lvl="1">
              <a:lnSpc>
                <a:spcPct val="130000"/>
              </a:lnSpc>
            </a:pPr>
            <a:r>
              <a:rPr lang="en-US" sz="1100" dirty="0">
                <a:solidFill>
                  <a:srgbClr val="1A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Patient self-assessment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A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Completable in under five minutes.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098A3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164592"/>
            <a:ext cx="337630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0098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 — HORMONAL &amp; METABOLIC PANEL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20040" y="457200"/>
            <a:ext cx="8503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2B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Blood Test Adds Material Diagnostic Power.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20040" y="1078992"/>
            <a:ext cx="4114800" cy="3630168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02920" y="1170432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98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Additional Features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02920" y="1554480"/>
            <a:ext cx="3749040" cy="2971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150" dirty="0">
                <a:solidFill>
                  <a:srgbClr val="1A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FSH &amp; LH (and FSH/LH ratio)</a:t>
            </a:r>
            <a:endParaRPr lang="en-US" sz="115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150" dirty="0">
                <a:solidFill>
                  <a:srgbClr val="1A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AMH — antral follicle pool marker</a:t>
            </a:r>
            <a:endParaRPr lang="en-US" sz="115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150" dirty="0">
                <a:solidFill>
                  <a:srgbClr val="1A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TSH — thyroid exclusion</a:t>
            </a:r>
            <a:endParaRPr lang="en-US" sz="115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150" dirty="0">
                <a:solidFill>
                  <a:srgbClr val="1A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Prolactin — hyperprolactinaemia exclusion</a:t>
            </a:r>
            <a:endParaRPr lang="en-US" sz="115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150" dirty="0">
                <a:solidFill>
                  <a:srgbClr val="1A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Progesterone</a:t>
            </a:r>
            <a:endParaRPr lang="en-US" sz="115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150" dirty="0">
                <a:solidFill>
                  <a:srgbClr val="1A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Vitamin D3</a:t>
            </a:r>
            <a:endParaRPr lang="en-US" sz="115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150" dirty="0">
                <a:solidFill>
                  <a:srgbClr val="1A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blood sugar</a:t>
            </a:r>
            <a:endParaRPr lang="en-US" sz="115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150" dirty="0">
                <a:solidFill>
                  <a:srgbClr val="1A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Systolic &amp; diastolic blood pressure</a:t>
            </a:r>
            <a:endParaRPr lang="en-US" sz="115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150" dirty="0">
                <a:solidFill>
                  <a:srgbClr val="1A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Haemoglobin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709160" y="1078992"/>
            <a:ext cx="4114800" cy="1600200"/>
          </a:xfrm>
          <a:prstGeom prst="rect">
            <a:avLst/>
          </a:prstGeom>
          <a:solidFill>
            <a:srgbClr val="0D1B2A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892040" y="1170432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at Stage 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892040" y="1536192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FA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812280" y="1536192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0.899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892040" y="1783080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FA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Sensitivity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812280" y="1783080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91.7%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892040" y="2029968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FA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Specificity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812280" y="2029968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68.5%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92040" y="2276856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FA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812280" y="22768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0.21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709160" y="2816352"/>
            <a:ext cx="4114800" cy="1892808"/>
          </a:xfrm>
          <a:prstGeom prst="rect">
            <a:avLst/>
          </a:prstGeom>
          <a:solidFill>
            <a:srgbClr val="F4F7FA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92040" y="289864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98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These Markers Matter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892040" y="3246120"/>
            <a:ext cx="3749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1450" indent="-171450">
              <a:lnSpc>
                <a:spcPct val="135000"/>
              </a:lnSpc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rgbClr val="1A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LH:FSH reversal is a hallmark of PCOS.</a:t>
            </a:r>
            <a:endParaRPr lang="en-US" sz="1100" dirty="0"/>
          </a:p>
          <a:p>
            <a:pPr marL="171450" indent="-171450">
              <a:lnSpc>
                <a:spcPct val="135000"/>
              </a:lnSpc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rgbClr val="1A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Elevated AMH reflects an enlarged antral follicle pool.</a:t>
            </a:r>
            <a:endParaRPr lang="en-US" sz="1100" dirty="0"/>
          </a:p>
          <a:p>
            <a:pPr marL="171450" indent="-171450">
              <a:lnSpc>
                <a:spcPct val="135000"/>
              </a:lnSpc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rgbClr val="1A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TSH and prolactin provide active differential diagnosis signals — thyroid disease and hyperprolactinaemia are explicitly excluded.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06B8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16459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00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3 — IMAGING INTEGRATION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20040" y="457200"/>
            <a:ext cx="8503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2B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Ultrasound Unlocks the Highest Confidence.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20040" y="1078992"/>
            <a:ext cx="4114800" cy="242316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02920" y="1170432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Additional Imaging Features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02920" y="1554480"/>
            <a:ext cx="3749040" cy="1783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60000"/>
              </a:lnSpc>
              <a:buSzPct val="100000"/>
              <a:buChar char="•"/>
            </a:pPr>
            <a:r>
              <a:rPr lang="en-US" sz="1200" dirty="0">
                <a:solidFill>
                  <a:srgbClr val="1A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 ovarian follicle count</a:t>
            </a:r>
            <a:endParaRPr lang="en-US" sz="1200" dirty="0"/>
          </a:p>
          <a:p>
            <a:pPr marL="342900" indent="-342900">
              <a:lnSpc>
                <a:spcPct val="160000"/>
              </a:lnSpc>
              <a:buSzPct val="100000"/>
              <a:buChar char="•"/>
            </a:pPr>
            <a:r>
              <a:rPr lang="en-US" sz="1200" dirty="0">
                <a:solidFill>
                  <a:srgbClr val="1A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ovarian follicle count</a:t>
            </a:r>
            <a:endParaRPr lang="en-US" sz="1200" dirty="0"/>
          </a:p>
          <a:p>
            <a:pPr marL="342900" indent="-342900">
              <a:lnSpc>
                <a:spcPct val="160000"/>
              </a:lnSpc>
              <a:buSzPct val="100000"/>
              <a:buChar char="•"/>
            </a:pPr>
            <a:r>
              <a:rPr lang="en-US" sz="1200" dirty="0">
                <a:solidFill>
                  <a:srgbClr val="1A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follicle size (left)</a:t>
            </a:r>
            <a:endParaRPr lang="en-US" sz="1200" dirty="0"/>
          </a:p>
          <a:p>
            <a:pPr marL="342900" indent="-342900">
              <a:lnSpc>
                <a:spcPct val="160000"/>
              </a:lnSpc>
              <a:buSzPct val="100000"/>
              <a:buChar char="•"/>
            </a:pPr>
            <a:r>
              <a:rPr lang="en-US" sz="1200" dirty="0">
                <a:solidFill>
                  <a:srgbClr val="1A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follicle size (right)</a:t>
            </a:r>
            <a:endParaRPr lang="en-US" sz="1200" dirty="0"/>
          </a:p>
          <a:p>
            <a:pPr marL="342900" indent="-342900">
              <a:lnSpc>
                <a:spcPct val="160000"/>
              </a:lnSpc>
              <a:buSzPct val="100000"/>
              <a:buChar char="•"/>
            </a:pPr>
            <a:r>
              <a:rPr lang="en-US" sz="1200" dirty="0">
                <a:solidFill>
                  <a:srgbClr val="1A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Endometrial thickness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0040" y="3621024"/>
            <a:ext cx="4114800" cy="1097280"/>
          </a:xfrm>
          <a:prstGeom prst="rect">
            <a:avLst/>
          </a:prstGeom>
          <a:solidFill>
            <a:srgbClr val="F4F7FA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02920" y="3712464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100" i="1" dirty="0">
                <a:solidFill>
                  <a:srgbClr val="8FA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Rotterdam PCOM criterion: ≥12 follicles per ovary (2D) or ovarian volume &gt;10 mL. Stage 3 directly encodes this.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709160" y="1078992"/>
            <a:ext cx="4114800" cy="1600200"/>
          </a:xfrm>
          <a:prstGeom prst="rect">
            <a:avLst/>
          </a:prstGeom>
          <a:solidFill>
            <a:srgbClr val="0D1B2A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892040" y="1170432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at Stage 3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892040" y="1536192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FA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812280" y="1536192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0.957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892040" y="1783080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FA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Sensitivity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812280" y="1783080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94.4%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92040" y="2029968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FA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Specificity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812280" y="2029968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82.2%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892040" y="2276856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FA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812280" y="22768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0.22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709160" y="2816352"/>
            <a:ext cx="4114800" cy="1892808"/>
          </a:xfrm>
          <a:prstGeom prst="rect">
            <a:avLst/>
          </a:prstGeom>
          <a:solidFill>
            <a:srgbClr val="F4F7FA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892040" y="289864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Stage 3 Matters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892040" y="3246120"/>
            <a:ext cx="3749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1A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Follicle count features are the top SHAP contributors at Stage 3 — exactly as clinical theory predicts. The AUC jump from 0.899 to 0.957 is not feature inflation; it is the polycystic ovarian morphology criterion doing its clinical job.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0C9A7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16459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PERFORMANCE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20040" y="438912"/>
            <a:ext cx="8503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Performance Improves With Every Clinical Layer.</a:t>
            </a:r>
            <a:endParaRPr lang="en-US" sz="2600" dirty="0"/>
          </a:p>
        </p:txBody>
      </p:sp>
      <p:graphicFrame>
        <p:nvGraphicFramePr>
          <p:cNvPr id="5" name="Chart 0"/>
          <p:cNvGraphicFramePr/>
          <p:nvPr>
            <p:extLst>
              <p:ext uri="{D42A27DB-BD31-4B8C-83A1-F6EECF244321}">
                <p14:modId xmlns:p14="http://schemas.microsoft.com/office/powerpoint/2010/main" val="136695582"/>
              </p:ext>
            </p:extLst>
          </p:nvPr>
        </p:nvGraphicFramePr>
        <p:xfrm>
          <a:off x="320040" y="1051560"/>
          <a:ext cx="5303520" cy="30175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6" name="Chart 1"/>
          <p:cNvGraphicFramePr/>
          <p:nvPr>
            <p:extLst>
              <p:ext uri="{D42A27DB-BD31-4B8C-83A1-F6EECF244321}">
                <p14:modId xmlns:p14="http://schemas.microsoft.com/office/powerpoint/2010/main" val="2308198901"/>
              </p:ext>
            </p:extLst>
          </p:nvPr>
        </p:nvGraphicFramePr>
        <p:xfrm>
          <a:off x="5852160" y="1051560"/>
          <a:ext cx="2971800" cy="30175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7" name="Text 3"/>
          <p:cNvSpPr/>
          <p:nvPr/>
        </p:nvSpPr>
        <p:spPr>
          <a:xfrm>
            <a:off x="320040" y="4279392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i="1" dirty="0">
                <a:solidFill>
                  <a:srgbClr val="8FA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not feature inflation. Each stage adds a clinically meaningful data layer — and the model proves it.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0C9A7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16459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DESIGN DECISIONS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20040" y="457200"/>
            <a:ext cx="8503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2B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Built for Screening, Not Just Accuracy.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20040" y="1143000"/>
            <a:ext cx="2697480" cy="356616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143000"/>
            <a:ext cx="2697480" cy="50292"/>
          </a:xfrm>
          <a:prstGeom prst="rect">
            <a:avLst/>
          </a:prstGeom>
          <a:solidFill>
            <a:srgbClr val="00C9A7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23444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A2B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Sensitivity-First Thresholds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1783080"/>
            <a:ext cx="242316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1A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screening context, a false negative (missed PCOS) causes real harm: continued symptoms, delayed treatment, risk of insulin resistance and infertility.</a:t>
            </a:r>
            <a:endParaRPr lang="en-US" sz="1050" dirty="0"/>
          </a:p>
          <a:p>
            <a:pPr marL="0" indent="0">
              <a:lnSpc>
                <a:spcPct val="140000"/>
              </a:lnSpc>
              <a:buNone/>
            </a:pPr>
            <a:endParaRPr lang="en-US" sz="105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1A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false positive costs one additional investigation — a manageable clinical overhead.</a:t>
            </a:r>
            <a:endParaRPr lang="en-US" sz="1050" dirty="0"/>
          </a:p>
          <a:p>
            <a:pPr marL="0" indent="0">
              <a:lnSpc>
                <a:spcPct val="140000"/>
              </a:lnSpc>
              <a:buNone/>
            </a:pPr>
            <a:endParaRPr lang="en-US" sz="105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1A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models use thresholds tuned to preserve sensitivity above 85%, not to maximise accuracy.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200400" y="1143000"/>
            <a:ext cx="2697480" cy="356616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00400" y="1143000"/>
            <a:ext cx="2697480" cy="50292"/>
          </a:xfrm>
          <a:prstGeom prst="rect">
            <a:avLst/>
          </a:prstGeom>
          <a:solidFill>
            <a:srgbClr val="0098A3"/>
          </a:solidFill>
          <a:ln/>
        </p:spPr>
      </p:sp>
      <p:sp>
        <p:nvSpPr>
          <p:cNvPr id="11" name="Text 9"/>
          <p:cNvSpPr/>
          <p:nvPr/>
        </p:nvSpPr>
        <p:spPr>
          <a:xfrm>
            <a:off x="3337560" y="123444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A2B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Calibrated Probabilities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337560" y="1783080"/>
            <a:ext cx="242316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1A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XGBoost outputs are often overconfident. We apply isotonic regression calibration (CalibratedClassifierCV, 4-fold CV) so that a displayed "75% risk" genuinely reflects ~75% posterior probability under the training distribution.</a:t>
            </a:r>
            <a:endParaRPr lang="en-US" sz="1050" dirty="0"/>
          </a:p>
          <a:p>
            <a:pPr marL="0" indent="0">
              <a:lnSpc>
                <a:spcPct val="140000"/>
              </a:lnSpc>
              <a:buNone/>
            </a:pPr>
            <a:endParaRPr lang="en-US" sz="105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1A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non-negotiable for clinical usability — a clinician acting on a score must be able to trust it as a real probability.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080760" y="1143000"/>
            <a:ext cx="2697480" cy="356616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080760" y="1143000"/>
            <a:ext cx="2697480" cy="50292"/>
          </a:xfrm>
          <a:prstGeom prst="rect">
            <a:avLst/>
          </a:prstGeom>
          <a:solidFill>
            <a:srgbClr val="006B8A"/>
          </a:solidFill>
          <a:ln/>
        </p:spPr>
      </p:sp>
      <p:sp>
        <p:nvSpPr>
          <p:cNvPr id="15" name="Text 13"/>
          <p:cNvSpPr/>
          <p:nvPr/>
        </p:nvSpPr>
        <p:spPr>
          <a:xfrm>
            <a:off x="6172200" y="123444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A2B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Deliberate Clinical Boundary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217920" y="1783080"/>
            <a:ext cx="242316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1A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do not attempt to autonomously rule out thyroid dysfunction, hyperprolactinaemia, or endometriosis. Instead, TSH and prolactin markers explicitly flag these differentials to the clinician.</a:t>
            </a:r>
            <a:endParaRPr lang="en-US" sz="1050" dirty="0"/>
          </a:p>
          <a:p>
            <a:pPr marL="0" indent="0">
              <a:lnSpc>
                <a:spcPct val="140000"/>
              </a:lnSpc>
              <a:buNone/>
            </a:pPr>
            <a:endParaRPr lang="en-US" sz="105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050" dirty="0">
                <a:solidFill>
                  <a:srgbClr val="1A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a safety design: it's not a limitation — it's the system knowing its role. A confident assistant, not an overconfident replacement.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320040" y="4709160"/>
            <a:ext cx="8503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8FA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trade-off between sensitivity and specificity is not an oversight — it is an explicit, documented clinical engineering choice.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0C9A7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16459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EXPLAINABILITY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20040" y="457200"/>
            <a:ext cx="8503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2B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Clinical AI Must Show Its Work.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20040" y="960120"/>
            <a:ext cx="8503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FA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 (SHapley Additive exPlanations) is integrated across all three stage models.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20040" y="1371600"/>
            <a:ext cx="2697480" cy="333756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" y="1371600"/>
            <a:ext cx="2697480" cy="502920"/>
          </a:xfrm>
          <a:prstGeom prst="rect">
            <a:avLst/>
          </a:prstGeom>
          <a:solidFill>
            <a:srgbClr val="00C9A7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444752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Stage 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205740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8FA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SHAP Contributors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2473452"/>
            <a:ext cx="118872" cy="118872"/>
          </a:xfrm>
          <a:prstGeom prst="ellipse">
            <a:avLst/>
          </a:prstGeom>
          <a:solidFill>
            <a:srgbClr val="00C9A7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2359152"/>
            <a:ext cx="2240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Hirsutism (hair growth)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2857500"/>
            <a:ext cx="118872" cy="118872"/>
          </a:xfrm>
          <a:prstGeom prst="ellipse">
            <a:avLst/>
          </a:prstGeom>
          <a:solidFill>
            <a:srgbClr val="00C9A7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743200"/>
            <a:ext cx="2240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gain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241548"/>
            <a:ext cx="118872" cy="118872"/>
          </a:xfrm>
          <a:prstGeom prst="ellipse">
            <a:avLst/>
          </a:prstGeom>
          <a:solidFill>
            <a:srgbClr val="00C9A7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3127248"/>
            <a:ext cx="2240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Skin darkening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20040" y="3758184"/>
            <a:ext cx="2697480" cy="22860"/>
          </a:xfrm>
          <a:prstGeom prst="rect">
            <a:avLst/>
          </a:prstGeom>
          <a:solidFill>
            <a:srgbClr val="E8EEF2"/>
          </a:solidFill>
          <a:ln/>
        </p:spPr>
      </p:sp>
      <p:sp>
        <p:nvSpPr>
          <p:cNvPr id="17" name="Text 15"/>
          <p:cNvSpPr/>
          <p:nvPr/>
        </p:nvSpPr>
        <p:spPr>
          <a:xfrm>
            <a:off x="457200" y="3781044"/>
            <a:ext cx="2423160" cy="8183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i="1" dirty="0">
                <a:solidFill>
                  <a:srgbClr val="8FA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Maps directly to hyperandrogenic &amp; metabolic PCOS criteria.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200400" y="1371600"/>
            <a:ext cx="2697480" cy="333756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3200400" y="1371600"/>
            <a:ext cx="2697480" cy="502920"/>
          </a:xfrm>
          <a:prstGeom prst="rect">
            <a:avLst/>
          </a:prstGeom>
          <a:solidFill>
            <a:srgbClr val="0098A3"/>
          </a:solidFill>
          <a:ln/>
        </p:spPr>
      </p:sp>
      <p:sp>
        <p:nvSpPr>
          <p:cNvPr id="20" name="Text 18"/>
          <p:cNvSpPr/>
          <p:nvPr/>
        </p:nvSpPr>
        <p:spPr>
          <a:xfrm>
            <a:off x="3337560" y="1444752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Stage 2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3337560" y="205740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8FA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SHAP Contributors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337560" y="2473452"/>
            <a:ext cx="118872" cy="118872"/>
          </a:xfrm>
          <a:prstGeom prst="ellipse">
            <a:avLst/>
          </a:prstGeom>
          <a:solidFill>
            <a:srgbClr val="0098A3"/>
          </a:solidFill>
          <a:ln/>
        </p:spPr>
      </p:sp>
      <p:sp>
        <p:nvSpPr>
          <p:cNvPr id="23" name="Text 21"/>
          <p:cNvSpPr/>
          <p:nvPr/>
        </p:nvSpPr>
        <p:spPr>
          <a:xfrm>
            <a:off x="3520440" y="2359152"/>
            <a:ext cx="2240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AMH level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337560" y="2857500"/>
            <a:ext cx="118872" cy="118872"/>
          </a:xfrm>
          <a:prstGeom prst="ellipse">
            <a:avLst/>
          </a:prstGeom>
          <a:solidFill>
            <a:srgbClr val="0098A3"/>
          </a:solidFill>
          <a:ln/>
        </p:spPr>
      </p:sp>
      <p:sp>
        <p:nvSpPr>
          <p:cNvPr id="25" name="Text 23"/>
          <p:cNvSpPr/>
          <p:nvPr/>
        </p:nvSpPr>
        <p:spPr>
          <a:xfrm>
            <a:off x="3520440" y="2743200"/>
            <a:ext cx="2240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FSH/LH ratio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337560" y="3241548"/>
            <a:ext cx="118872" cy="118872"/>
          </a:xfrm>
          <a:prstGeom prst="ellipse">
            <a:avLst/>
          </a:prstGeom>
          <a:solidFill>
            <a:srgbClr val="0098A3"/>
          </a:solidFill>
          <a:ln/>
        </p:spPr>
      </p:sp>
      <p:sp>
        <p:nvSpPr>
          <p:cNvPr id="27" name="Text 25"/>
          <p:cNvSpPr/>
          <p:nvPr/>
        </p:nvSpPr>
        <p:spPr>
          <a:xfrm>
            <a:off x="3520440" y="3127248"/>
            <a:ext cx="2240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LH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200400" y="3758184"/>
            <a:ext cx="2697480" cy="22860"/>
          </a:xfrm>
          <a:prstGeom prst="rect">
            <a:avLst/>
          </a:prstGeom>
          <a:solidFill>
            <a:srgbClr val="E8EEF2"/>
          </a:solidFill>
          <a:ln/>
        </p:spPr>
      </p:sp>
      <p:sp>
        <p:nvSpPr>
          <p:cNvPr id="29" name="Text 27"/>
          <p:cNvSpPr/>
          <p:nvPr/>
        </p:nvSpPr>
        <p:spPr>
          <a:xfrm>
            <a:off x="3337560" y="3781044"/>
            <a:ext cx="2423160" cy="8183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i="1" dirty="0">
                <a:solidFill>
                  <a:srgbClr val="8FA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Well-established PCOS markers confirm model is learning from the right signals.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080760" y="1371600"/>
            <a:ext cx="2697480" cy="333756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6080760" y="1371600"/>
            <a:ext cx="2697480" cy="502920"/>
          </a:xfrm>
          <a:prstGeom prst="rect">
            <a:avLst/>
          </a:prstGeom>
          <a:solidFill>
            <a:srgbClr val="006B8A"/>
          </a:solidFill>
          <a:ln/>
        </p:spPr>
      </p:sp>
      <p:sp>
        <p:nvSpPr>
          <p:cNvPr id="32" name="Text 30"/>
          <p:cNvSpPr/>
          <p:nvPr/>
        </p:nvSpPr>
        <p:spPr>
          <a:xfrm>
            <a:off x="6217920" y="1444752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Stage 3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217920" y="205740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8FA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SHAP Contributors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217920" y="2473452"/>
            <a:ext cx="118872" cy="118872"/>
          </a:xfrm>
          <a:prstGeom prst="ellipse">
            <a:avLst/>
          </a:prstGeom>
          <a:solidFill>
            <a:srgbClr val="006B8A"/>
          </a:solidFill>
          <a:ln/>
        </p:spPr>
      </p:sp>
      <p:sp>
        <p:nvSpPr>
          <p:cNvPr id="35" name="Text 33"/>
          <p:cNvSpPr/>
          <p:nvPr/>
        </p:nvSpPr>
        <p:spPr>
          <a:xfrm>
            <a:off x="6400800" y="2359152"/>
            <a:ext cx="2240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ovarian follicle count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6217920" y="2857500"/>
            <a:ext cx="118872" cy="118872"/>
          </a:xfrm>
          <a:prstGeom prst="ellipse">
            <a:avLst/>
          </a:prstGeom>
          <a:solidFill>
            <a:srgbClr val="006B8A"/>
          </a:solidFill>
          <a:ln/>
        </p:spPr>
      </p:sp>
      <p:sp>
        <p:nvSpPr>
          <p:cNvPr id="37" name="Text 35"/>
          <p:cNvSpPr/>
          <p:nvPr/>
        </p:nvSpPr>
        <p:spPr>
          <a:xfrm>
            <a:off x="6400800" y="2743200"/>
            <a:ext cx="2240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 ovarian follicle count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6217920" y="3241548"/>
            <a:ext cx="118872" cy="118872"/>
          </a:xfrm>
          <a:prstGeom prst="ellipse">
            <a:avLst/>
          </a:prstGeom>
          <a:solidFill>
            <a:srgbClr val="006B8A"/>
          </a:solidFill>
          <a:ln/>
        </p:spPr>
      </p:sp>
      <p:sp>
        <p:nvSpPr>
          <p:cNvPr id="39" name="Text 37"/>
          <p:cNvSpPr/>
          <p:nvPr/>
        </p:nvSpPr>
        <p:spPr>
          <a:xfrm>
            <a:off x="6400800" y="3127248"/>
            <a:ext cx="2240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gain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080760" y="3758184"/>
            <a:ext cx="2697480" cy="22860"/>
          </a:xfrm>
          <a:prstGeom prst="rect">
            <a:avLst/>
          </a:prstGeom>
          <a:solidFill>
            <a:srgbClr val="E8EEF2"/>
          </a:solidFill>
          <a:ln/>
        </p:spPr>
      </p:sp>
      <p:sp>
        <p:nvSpPr>
          <p:cNvPr id="41" name="Text 39"/>
          <p:cNvSpPr/>
          <p:nvPr/>
        </p:nvSpPr>
        <p:spPr>
          <a:xfrm>
            <a:off x="6217920" y="3781044"/>
            <a:ext cx="2423160" cy="8183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i="1" dirty="0">
                <a:solidFill>
                  <a:srgbClr val="8FA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Follicle counts dominate — exactly as Rotterdam PCOM criterion predicts.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320040" y="4782312"/>
            <a:ext cx="850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 values confirm the model is not relying on spurious correlates — a critical validation for clinical deployment.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0C9A7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16459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PHENOTYPE CLUSTERING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20040" y="457200"/>
            <a:ext cx="8503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2B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PCOS Is Not One Disease. We Reflect That.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20040" y="978408"/>
            <a:ext cx="8503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FA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diagnosis, KMeans clustering (k=3, silhouette-selected) segments PCOS-positive patients into phenotypic subgroups.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20040" y="1444752"/>
            <a:ext cx="2697480" cy="324612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320040" y="1444752"/>
            <a:ext cx="2697480" cy="832104"/>
          </a:xfrm>
          <a:prstGeom prst="rect">
            <a:avLst/>
          </a:prstGeom>
          <a:solidFill>
            <a:srgbClr val="00C9A7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49047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FFFFFF">
                    <a:alpha val="7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 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7200" y="169164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Metabolic-</a:t>
            </a:r>
            <a:endParaRPr lang="en-US" sz="15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Hyperandrogenic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57200" y="2404872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8FA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Markers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457200" y="2679192"/>
            <a:ext cx="2423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A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Elevated BMI, WHR, weight gain, skin darkening. AMH moderately elevated.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7200" y="3291840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8FA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Profile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57200" y="3547872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A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 obese PCOS with insulin resistance features.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20040" y="4142232"/>
            <a:ext cx="2697480" cy="502920"/>
          </a:xfrm>
          <a:prstGeom prst="rect">
            <a:avLst/>
          </a:prstGeom>
          <a:solidFill>
            <a:srgbClr val="00C9A7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4187952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Endocrinologist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200400" y="1444752"/>
            <a:ext cx="2697480" cy="324612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200400" y="1444752"/>
            <a:ext cx="2697480" cy="832104"/>
          </a:xfrm>
          <a:prstGeom prst="rect">
            <a:avLst/>
          </a:prstGeom>
          <a:solidFill>
            <a:srgbClr val="0098A3"/>
          </a:solidFill>
          <a:ln/>
        </p:spPr>
      </p:sp>
      <p:sp>
        <p:nvSpPr>
          <p:cNvPr id="18" name="Text 16"/>
          <p:cNvSpPr/>
          <p:nvPr/>
        </p:nvSpPr>
        <p:spPr>
          <a:xfrm>
            <a:off x="3337560" y="149047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FFFFFF">
                    <a:alpha val="7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 2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337560" y="169164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Hormonal /</a:t>
            </a:r>
            <a:endParaRPr lang="en-US" sz="15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Lean PCOS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3337560" y="2404872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8FA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Markers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3337560" y="2679192"/>
            <a:ext cx="2423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A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Elevated LH, LH/FSH reversal, high AMH. Lower BMI.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337560" y="3291840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8FA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Profile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3337560" y="3547872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A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hormonal dysregulation — lean presentation.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200400" y="4142232"/>
            <a:ext cx="2697480" cy="502920"/>
          </a:xfrm>
          <a:prstGeom prst="rect">
            <a:avLst/>
          </a:prstGeom>
          <a:solidFill>
            <a:srgbClr val="0098A3"/>
          </a:solidFill>
          <a:ln/>
        </p:spPr>
      </p:sp>
      <p:sp>
        <p:nvSpPr>
          <p:cNvPr id="25" name="Text 23"/>
          <p:cNvSpPr/>
          <p:nvPr/>
        </p:nvSpPr>
        <p:spPr>
          <a:xfrm>
            <a:off x="3337560" y="4187952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Gynaecologist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080760" y="1440180"/>
            <a:ext cx="2697480" cy="324612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080760" y="1444752"/>
            <a:ext cx="2697480" cy="832104"/>
          </a:xfrm>
          <a:prstGeom prst="rect">
            <a:avLst/>
          </a:prstGeom>
          <a:solidFill>
            <a:srgbClr val="006B8A"/>
          </a:solidFill>
          <a:ln/>
        </p:spPr>
      </p:sp>
      <p:sp>
        <p:nvSpPr>
          <p:cNvPr id="28" name="Text 26"/>
          <p:cNvSpPr/>
          <p:nvPr/>
        </p:nvSpPr>
        <p:spPr>
          <a:xfrm>
            <a:off x="6217920" y="149047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FFFFFF">
                    <a:alpha val="7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 3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217920" y="169164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Mild /</a:t>
            </a:r>
            <a:endParaRPr lang="en-US" sz="15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Mixed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6217920" y="2404872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8FA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Markers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217920" y="2679192"/>
            <a:ext cx="2423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A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 pronounced elevation across all markers.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217920" y="3291840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8FA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Profile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6217920" y="3547872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A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Subclinical or early-stage PCOS with heterogeneous features.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080760" y="4142232"/>
            <a:ext cx="2697480" cy="502920"/>
          </a:xfrm>
          <a:prstGeom prst="rect">
            <a:avLst/>
          </a:prstGeom>
          <a:solidFill>
            <a:srgbClr val="006B8A"/>
          </a:solidFill>
          <a:ln/>
        </p:spPr>
      </p:sp>
      <p:sp>
        <p:nvSpPr>
          <p:cNvPr id="35" name="Text 33"/>
          <p:cNvSpPr/>
          <p:nvPr/>
        </p:nvSpPr>
        <p:spPr>
          <a:xfrm>
            <a:off x="6217920" y="4187952"/>
            <a:ext cx="2423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GP / Either specialty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320040" y="4773168"/>
            <a:ext cx="850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8FA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clusters correspond to Rotterdam phenotypes A–D — providing external face validity for the unsupervised groupings.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0C9A7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16459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 ENGINE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20040" y="457200"/>
            <a:ext cx="8503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2B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Probability to Actionable Guidance.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20040" y="1078992"/>
            <a:ext cx="2697480" cy="233172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078992"/>
            <a:ext cx="2697480" cy="53035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70432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Low Risk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1508760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FA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Probability: &lt; 0.35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457200" y="1828800"/>
            <a:ext cx="24231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i="1" dirty="0">
                <a:solidFill>
                  <a:srgbClr val="1A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"Symptom pattern suggests lower PCOS risk. Continue tracking cycle regularity and metabolic symptoms; reassess if symptoms persist."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00400" y="1078992"/>
            <a:ext cx="2697480" cy="233172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00400" y="1078992"/>
            <a:ext cx="2697480" cy="53035"/>
          </a:xfrm>
          <a:prstGeom prst="rect">
            <a:avLst/>
          </a:prstGeom>
          <a:solidFill>
            <a:srgbClr val="F4A261"/>
          </a:solidFill>
          <a:ln/>
        </p:spPr>
      </p:sp>
      <p:sp>
        <p:nvSpPr>
          <p:cNvPr id="12" name="Text 10"/>
          <p:cNvSpPr/>
          <p:nvPr/>
        </p:nvSpPr>
        <p:spPr>
          <a:xfrm>
            <a:off x="3337560" y="1170432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4A2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Moderate Risk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337560" y="1508760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FA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Probability: 0.35 – 0.65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3337560" y="1828800"/>
            <a:ext cx="24231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i="1" dirty="0">
                <a:solidFill>
                  <a:srgbClr val="1A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"Bloodwork and symptoms suggest possible PCOS risk. Recommended: ultrasound assessment and specialist review."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80760" y="1078992"/>
            <a:ext cx="2697480" cy="233172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080760" y="1078992"/>
            <a:ext cx="2697480" cy="53035"/>
          </a:xfrm>
          <a:prstGeom prst="rect">
            <a:avLst/>
          </a:prstGeom>
          <a:solidFill>
            <a:srgbClr val="E76F51"/>
          </a:solidFill>
          <a:ln/>
        </p:spPr>
      </p:sp>
      <p:sp>
        <p:nvSpPr>
          <p:cNvPr id="17" name="Text 15"/>
          <p:cNvSpPr/>
          <p:nvPr/>
        </p:nvSpPr>
        <p:spPr>
          <a:xfrm>
            <a:off x="6217920" y="1170432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76F5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High Risk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217920" y="1508760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FA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Probability: &gt; 0.65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6217920" y="1828800"/>
            <a:ext cx="24231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i="1" dirty="0">
                <a:solidFill>
                  <a:srgbClr val="1A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"Combined findings suggest elevated PCOS risk. Clinical confirmation, metabolic risk assessment, and management planning recommended."</a:t>
            </a:r>
            <a:endParaRPr lang="en-US" sz="1000" dirty="0"/>
          </a:p>
          <a:p>
            <a:pPr marL="0" indent="0">
              <a:lnSpc>
                <a:spcPct val="130000"/>
              </a:lnSpc>
              <a:buNone/>
            </a:pPr>
            <a:endParaRPr lang="en-US" sz="10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00" i="1" dirty="0">
                <a:solidFill>
                  <a:srgbClr val="1A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factors: right follicle count (15), left follicle count (13), weight gain.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20040" y="3566160"/>
            <a:ext cx="8503920" cy="1371600"/>
          </a:xfrm>
          <a:prstGeom prst="rect">
            <a:avLst/>
          </a:prstGeom>
          <a:solidFill>
            <a:srgbClr val="0D1B2A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02920" y="3657600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Specialist Routing Logic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02920" y="4041648"/>
            <a:ext cx="813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FA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Metabolic signals (↑BMI, ↑blood sugar, skin darkening, ↑WHR)  →  </a:t>
            </a:r>
            <a:r>
              <a:rPr lang="en-US" sz="11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Endocrinologist</a:t>
            </a:r>
            <a:r>
              <a:rPr lang="en-US" sz="1100" dirty="0">
                <a:solidFill>
                  <a:srgbClr val="8FA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FA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Reproductive/ovarian signals (irregular cycles, ↑AMH, hirsutism, high follicle counts)  →  </a:t>
            </a:r>
            <a:r>
              <a:rPr lang="en-US" sz="11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Gynaecologist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0C9A7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16459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20040" y="457200"/>
            <a:ext cx="8503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Production-Ready Django Application.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1645920" y="1051560"/>
            <a:ext cx="5852160" cy="621792"/>
          </a:xfrm>
          <a:prstGeom prst="rect">
            <a:avLst/>
          </a:prstGeom>
          <a:solidFill>
            <a:srgbClr val="00C9A7"/>
          </a:solidFill>
          <a:ln/>
        </p:spPr>
      </p:sp>
      <p:sp>
        <p:nvSpPr>
          <p:cNvPr id="6" name="Shape 4"/>
          <p:cNvSpPr/>
          <p:nvPr/>
        </p:nvSpPr>
        <p:spPr>
          <a:xfrm>
            <a:off x="1645920" y="1051560"/>
            <a:ext cx="64008" cy="621792"/>
          </a:xfrm>
          <a:prstGeom prst="rect">
            <a:avLst/>
          </a:prstGeom>
          <a:solidFill>
            <a:srgbClr val="00C9A7"/>
          </a:solidFill>
          <a:ln/>
        </p:spPr>
      </p:sp>
      <p:sp>
        <p:nvSpPr>
          <p:cNvPr id="7" name="Text 5"/>
          <p:cNvSpPr/>
          <p:nvPr/>
        </p:nvSpPr>
        <p:spPr>
          <a:xfrm>
            <a:off x="1828800" y="108813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1828800" y="1362456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Patient forms · Clinician dashboards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4434840" y="1664208"/>
            <a:ext cx="365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FA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1645920" y="1783080"/>
            <a:ext cx="5852160" cy="621792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1" name="Shape 9"/>
          <p:cNvSpPr/>
          <p:nvPr/>
        </p:nvSpPr>
        <p:spPr>
          <a:xfrm>
            <a:off x="1645920" y="1783080"/>
            <a:ext cx="64008" cy="621792"/>
          </a:xfrm>
          <a:prstGeom prst="rect">
            <a:avLst/>
          </a:prstGeom>
          <a:solidFill>
            <a:srgbClr val="00C9A7"/>
          </a:solidFill>
          <a:ln/>
        </p:spPr>
      </p:sp>
      <p:sp>
        <p:nvSpPr>
          <p:cNvPr id="12" name="Text 10"/>
          <p:cNvSpPr/>
          <p:nvPr/>
        </p:nvSpPr>
        <p:spPr>
          <a:xfrm>
            <a:off x="1828800" y="181965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Django 6.x Backend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1828800" y="2093976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FA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· patients · doctors · clinics · assessments · journeys · api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434840" y="2395728"/>
            <a:ext cx="365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FA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645920" y="2514600"/>
            <a:ext cx="5852160" cy="621792"/>
          </a:xfrm>
          <a:prstGeom prst="rect">
            <a:avLst/>
          </a:prstGeom>
          <a:solidFill>
            <a:srgbClr val="1B2D40"/>
          </a:solidFill>
          <a:ln/>
        </p:spPr>
      </p:sp>
      <p:sp>
        <p:nvSpPr>
          <p:cNvPr id="16" name="Shape 14"/>
          <p:cNvSpPr/>
          <p:nvPr/>
        </p:nvSpPr>
        <p:spPr>
          <a:xfrm>
            <a:off x="1645920" y="2514600"/>
            <a:ext cx="64008" cy="621792"/>
          </a:xfrm>
          <a:prstGeom prst="rect">
            <a:avLst/>
          </a:prstGeom>
          <a:solidFill>
            <a:srgbClr val="00C9A7"/>
          </a:solidFill>
          <a:ln/>
        </p:spPr>
      </p:sp>
      <p:sp>
        <p:nvSpPr>
          <p:cNvPr id="17" name="Text 15"/>
          <p:cNvSpPr/>
          <p:nvPr/>
        </p:nvSpPr>
        <p:spPr>
          <a:xfrm>
            <a:off x="1828800" y="255117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Inference Engine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1828800" y="2825496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FA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stage1_model  stage2_model  stage3_model  phenotype_model (.joblib)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434840" y="3127248"/>
            <a:ext cx="365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FA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1645920" y="3246120"/>
            <a:ext cx="5852160" cy="621792"/>
          </a:xfrm>
          <a:prstGeom prst="rect">
            <a:avLst/>
          </a:prstGeom>
          <a:solidFill>
            <a:srgbClr val="1B2D40"/>
          </a:solidFill>
          <a:ln/>
        </p:spPr>
      </p:sp>
      <p:sp>
        <p:nvSpPr>
          <p:cNvPr id="21" name="Shape 19"/>
          <p:cNvSpPr/>
          <p:nvPr/>
        </p:nvSpPr>
        <p:spPr>
          <a:xfrm>
            <a:off x="1645920" y="3246120"/>
            <a:ext cx="64008" cy="621792"/>
          </a:xfrm>
          <a:prstGeom prst="rect">
            <a:avLst/>
          </a:prstGeom>
          <a:solidFill>
            <a:srgbClr val="00C9A7"/>
          </a:solidFill>
          <a:ln/>
        </p:spPr>
      </p:sp>
      <p:sp>
        <p:nvSpPr>
          <p:cNvPr id="22" name="Text 20"/>
          <p:cNvSpPr/>
          <p:nvPr/>
        </p:nvSpPr>
        <p:spPr>
          <a:xfrm>
            <a:off x="1828800" y="328269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 + Rules Engine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1828800" y="3557016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FA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risk_category · specialist_routing · next_step · top_factors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4434840" y="3858768"/>
            <a:ext cx="365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FA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645920" y="3977640"/>
            <a:ext cx="5852160" cy="621792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26" name="Shape 24"/>
          <p:cNvSpPr/>
          <p:nvPr/>
        </p:nvSpPr>
        <p:spPr>
          <a:xfrm>
            <a:off x="1645920" y="3977640"/>
            <a:ext cx="64008" cy="621792"/>
          </a:xfrm>
          <a:prstGeom prst="rect">
            <a:avLst/>
          </a:prstGeom>
          <a:solidFill>
            <a:srgbClr val="00C9A7"/>
          </a:solidFill>
          <a:ln/>
        </p:spPr>
      </p:sp>
      <p:sp>
        <p:nvSpPr>
          <p:cNvPr id="27" name="Text 25"/>
          <p:cNvSpPr/>
          <p:nvPr/>
        </p:nvSpPr>
        <p:spPr>
          <a:xfrm>
            <a:off x="1828800" y="401421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1828800" y="4288536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FA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· Patients · Journeys · Assessments · AssessmentResults · ClinicalNotes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7726680" y="105156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Django Apps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7726680" y="1371600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FA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users/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7726680" y="1810512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FA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patients/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7726680" y="2249424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FA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doctors/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7726680" y="2688336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FA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clinics/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7726680" y="3127248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FA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assessments/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7726680" y="3566160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FA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journeys/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7726680" y="4005072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FA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api/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0C9A7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16459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&amp; DEPLOYMENT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20040" y="457200"/>
            <a:ext cx="8503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2B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Production-Grade from Day One.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20040" y="1078992"/>
            <a:ext cx="4114800" cy="22860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02920" y="1170432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02920" y="1554480"/>
            <a:ext cx="37490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45000"/>
              </a:lnSpc>
              <a:buSzPct val="100000"/>
              <a:buChar char="•"/>
            </a:pPr>
            <a:r>
              <a:rPr lang="en-US" sz="1100" dirty="0">
                <a:solidFill>
                  <a:srgbClr val="1A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Field-level encryption at rest (django-encrypted-model-fields)</a:t>
            </a:r>
            <a:endParaRPr lang="en-US" sz="1100" dirty="0"/>
          </a:p>
          <a:p>
            <a:pPr marL="342900" indent="-342900">
              <a:lnSpc>
                <a:spcPct val="145000"/>
              </a:lnSpc>
              <a:buSzPct val="100000"/>
              <a:buChar char="•"/>
            </a:pPr>
            <a:r>
              <a:rPr lang="en-US" sz="1100" dirty="0">
                <a:solidFill>
                  <a:srgbClr val="1A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SECRET_KEY &amp; FIELD_ENCRYPTION_KEY from environment variables</a:t>
            </a:r>
            <a:endParaRPr lang="en-US" sz="1100" dirty="0"/>
          </a:p>
          <a:p>
            <a:pPr marL="342900" indent="-342900">
              <a:lnSpc>
                <a:spcPct val="145000"/>
              </a:lnSpc>
              <a:buSzPct val="100000"/>
              <a:buChar char="•"/>
            </a:pPr>
            <a:r>
              <a:rPr lang="en-US" sz="1100" dirty="0">
                <a:solidFill>
                  <a:srgbClr val="1A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DEBUG=False enforced in production via DJANGO_DEBUG env var</a:t>
            </a:r>
            <a:endParaRPr lang="en-US" sz="1100" dirty="0"/>
          </a:p>
          <a:p>
            <a:pPr marL="342900" indent="-342900">
              <a:lnSpc>
                <a:spcPct val="145000"/>
              </a:lnSpc>
              <a:buSzPct val="100000"/>
              <a:buChar char="•"/>
            </a:pPr>
            <a:r>
              <a:rPr lang="en-US" sz="1100" dirty="0">
                <a:solidFill>
                  <a:srgbClr val="1A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CSRF &amp; session protection via Django REST Framework</a:t>
            </a:r>
            <a:endParaRPr lang="en-US" sz="1100" dirty="0"/>
          </a:p>
          <a:p>
            <a:pPr marL="342900" indent="-342900">
              <a:lnSpc>
                <a:spcPct val="145000"/>
              </a:lnSpc>
              <a:buSzPct val="100000"/>
              <a:buChar char="•"/>
            </a:pPr>
            <a:r>
              <a:rPr lang="en-US" sz="1100" dirty="0">
                <a:solidFill>
                  <a:srgbClr val="1A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 enforced — HTTP redirected to HTTPS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0040" y="3493008"/>
            <a:ext cx="4114800" cy="1280160"/>
          </a:xfrm>
          <a:prstGeom prst="rect">
            <a:avLst/>
          </a:prstGeom>
          <a:solidFill>
            <a:srgbClr val="F4F7FA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02920" y="358444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02920" y="3886200"/>
            <a:ext cx="3749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1A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Django 6.x · PostgreSQL · Gunicorn · WhiteNoise</a:t>
            </a:r>
            <a:endParaRPr lang="en-US" sz="11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1A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3.x · scikit-learn · SHAP · joblib</a:t>
            </a:r>
            <a:endParaRPr lang="en-US" sz="11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1A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pandas · NumPy · django-encrypted-model-fields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709160" y="1078992"/>
            <a:ext cx="4114800" cy="3694176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892040" y="1170432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Stack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892040" y="1600200"/>
            <a:ext cx="3749040" cy="411480"/>
          </a:xfrm>
          <a:prstGeom prst="rect">
            <a:avLst/>
          </a:prstGeom>
          <a:solidFill>
            <a:srgbClr val="F4F7FA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0" y="166420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Internet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629400" y="1993392"/>
            <a:ext cx="2743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FA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892040" y="2112264"/>
            <a:ext cx="3749040" cy="411480"/>
          </a:xfrm>
          <a:prstGeom prst="rect">
            <a:avLst/>
          </a:prstGeom>
          <a:solidFill>
            <a:srgbClr val="E8EEF2"/>
          </a:solidFill>
          <a:ln/>
        </p:spPr>
      </p:sp>
      <p:sp>
        <p:nvSpPr>
          <p:cNvPr id="17" name="Text 15"/>
          <p:cNvSpPr/>
          <p:nvPr/>
        </p:nvSpPr>
        <p:spPr>
          <a:xfrm>
            <a:off x="5029200" y="21762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 (PaaS)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629400" y="2505456"/>
            <a:ext cx="2743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FA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892040" y="2624328"/>
            <a:ext cx="3749040" cy="411480"/>
          </a:xfrm>
          <a:prstGeom prst="rect">
            <a:avLst/>
          </a:prstGeom>
          <a:solidFill>
            <a:srgbClr val="F4F7FA"/>
          </a:solidFill>
          <a:ln/>
        </p:spPr>
      </p:sp>
      <p:sp>
        <p:nvSpPr>
          <p:cNvPr id="20" name="Text 18"/>
          <p:cNvSpPr/>
          <p:nvPr/>
        </p:nvSpPr>
        <p:spPr>
          <a:xfrm>
            <a:off x="5029200" y="268833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Gunicorn (WSGI — 4 workers)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629400" y="3017520"/>
            <a:ext cx="2743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FA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892040" y="3136392"/>
            <a:ext cx="3749040" cy="411480"/>
          </a:xfrm>
          <a:prstGeom prst="rect">
            <a:avLst/>
          </a:prstGeom>
          <a:solidFill>
            <a:srgbClr val="E8EEF2"/>
          </a:solidFill>
          <a:ln/>
        </p:spPr>
      </p:sp>
      <p:sp>
        <p:nvSpPr>
          <p:cNvPr id="23" name="Text 21"/>
          <p:cNvSpPr/>
          <p:nvPr/>
        </p:nvSpPr>
        <p:spPr>
          <a:xfrm>
            <a:off x="5029200" y="320040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Django 6.x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6629400" y="3529584"/>
            <a:ext cx="2743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FA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892040" y="3648456"/>
            <a:ext cx="3749040" cy="411480"/>
          </a:xfrm>
          <a:prstGeom prst="rect">
            <a:avLst/>
          </a:prstGeom>
          <a:solidFill>
            <a:srgbClr val="F4F7FA"/>
          </a:solidFill>
          <a:ln/>
        </p:spPr>
      </p:sp>
      <p:sp>
        <p:nvSpPr>
          <p:cNvPr id="26" name="Text 24"/>
          <p:cNvSpPr/>
          <p:nvPr/>
        </p:nvSpPr>
        <p:spPr>
          <a:xfrm>
            <a:off x="5029200" y="371246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4892040" y="425196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50" i="1" dirty="0">
                <a:solidFill>
                  <a:srgbClr val="8FA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models loaded once per Gunicorn worker at startup.</a:t>
            </a:r>
            <a:endParaRPr lang="en-US" sz="10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050" i="1" dirty="0">
                <a:solidFill>
                  <a:srgbClr val="8FA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3–4 MB total artifact footprint. Horizontal scaling ready.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280160"/>
          </a:xfrm>
          <a:prstGeom prst="rect">
            <a:avLst/>
          </a:prstGeom>
          <a:solidFill>
            <a:srgbClr val="00C9A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Live Demo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App Is Deployed.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20040" y="2194560"/>
            <a:ext cx="4206240" cy="1216152"/>
          </a:xfrm>
          <a:prstGeom prst="rect">
            <a:avLst/>
          </a:prstGeom>
          <a:solidFill>
            <a:srgbClr val="1B2D40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2194560"/>
            <a:ext cx="594360" cy="1216152"/>
          </a:xfrm>
          <a:prstGeom prst="rect">
            <a:avLst/>
          </a:prstGeom>
          <a:solidFill>
            <a:srgbClr val="00C9A7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25420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051560" y="2286000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Patient — Stage 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51560" y="2578608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/ GP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1051560" y="2807208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8FA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selects clinic and self-reports symptoms, menstrual history, and lifestyle factors. Immediate risk estimate returned with recommendation.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54880" y="2194560"/>
            <a:ext cx="4206240" cy="1216152"/>
          </a:xfrm>
          <a:prstGeom prst="rect">
            <a:avLst/>
          </a:prstGeom>
          <a:solidFill>
            <a:srgbClr val="1B2D40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754880" y="2194560"/>
            <a:ext cx="594360" cy="1216152"/>
          </a:xfrm>
          <a:prstGeom prst="rect">
            <a:avLst/>
          </a:prstGeom>
          <a:solidFill>
            <a:srgbClr val="00C9A7"/>
          </a:solidFill>
          <a:ln/>
        </p:spPr>
      </p:sp>
      <p:sp>
        <p:nvSpPr>
          <p:cNvPr id="13" name="Text 11"/>
          <p:cNvSpPr/>
          <p:nvPr/>
        </p:nvSpPr>
        <p:spPr>
          <a:xfrm>
            <a:off x="4800600" y="25420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5486400" y="2286000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Clinician — Stage 2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486400" y="2578608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5486400" y="2807208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8FA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 enters blood panel results. Risk score refines. Specialist routing and contributing factor explanation displayed.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20040" y="3566160"/>
            <a:ext cx="4206240" cy="1216152"/>
          </a:xfrm>
          <a:prstGeom prst="rect">
            <a:avLst/>
          </a:prstGeom>
          <a:solidFill>
            <a:srgbClr val="1B2D40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20040" y="3566160"/>
            <a:ext cx="594360" cy="1216152"/>
          </a:xfrm>
          <a:prstGeom prst="rect">
            <a:avLst/>
          </a:prstGeom>
          <a:solidFill>
            <a:srgbClr val="00C9A7"/>
          </a:solidFill>
          <a:ln/>
        </p:spPr>
      </p:sp>
      <p:sp>
        <p:nvSpPr>
          <p:cNvPr id="19" name="Text 17"/>
          <p:cNvSpPr/>
          <p:nvPr/>
        </p:nvSpPr>
        <p:spPr>
          <a:xfrm>
            <a:off x="365760" y="39136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1051560" y="3657600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Specialist — Stage 3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051560" y="3950208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Specialist / Radiologist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1051560" y="4178808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8FA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Radiologist or specialist enters ultrasound findings. Final risk estimate. Phenotype cluster assigned. Full recommendation generated.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754880" y="3566160"/>
            <a:ext cx="4206240" cy="1216152"/>
          </a:xfrm>
          <a:prstGeom prst="rect">
            <a:avLst/>
          </a:prstGeom>
          <a:solidFill>
            <a:srgbClr val="1B2D40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754880" y="3566160"/>
            <a:ext cx="594360" cy="1216152"/>
          </a:xfrm>
          <a:prstGeom prst="rect">
            <a:avLst/>
          </a:prstGeom>
          <a:solidFill>
            <a:srgbClr val="00C9A7"/>
          </a:solidFill>
          <a:ln/>
        </p:spPr>
      </p:sp>
      <p:sp>
        <p:nvSpPr>
          <p:cNvPr id="25" name="Text 23"/>
          <p:cNvSpPr/>
          <p:nvPr/>
        </p:nvSpPr>
        <p:spPr>
          <a:xfrm>
            <a:off x="4800600" y="39136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5486400" y="3657600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Doctor View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486400" y="3950208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5486400" y="4178808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8FA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 views patient phenotype, journey history, and clinical notes. Longitudinal tracking across assessments.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F4A261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16459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FAIRNESS &amp; LIMITATIONS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20040" y="457200"/>
            <a:ext cx="8503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2B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 Know What We Don't Know.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20040" y="960120"/>
            <a:ext cx="8503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8FA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assessment of a hackathon prototype built on a single public dataset.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20040" y="1399032"/>
            <a:ext cx="4206240" cy="1444752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" y="1399032"/>
            <a:ext cx="4206240" cy="43891"/>
          </a:xfrm>
          <a:prstGeom prst="rect">
            <a:avLst/>
          </a:prstGeom>
          <a:solidFill>
            <a:srgbClr val="F4A261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490472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B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Single-centre dataset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1810512"/>
            <a:ext cx="3931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1A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541 patients from one Indian clinical site. Demographic homogeneity. No external cohort validation. Performance may vary across ethnicity, age band, and BMI strata — especially lean PCOS phenotypes.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754880" y="1399032"/>
            <a:ext cx="4206240" cy="1444752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54880" y="1399032"/>
            <a:ext cx="4206240" cy="43891"/>
          </a:xfrm>
          <a:prstGeom prst="rect">
            <a:avLst/>
          </a:prstGeom>
          <a:solidFill>
            <a:srgbClr val="F4A261"/>
          </a:solidFill>
          <a:ln/>
        </p:spPr>
      </p:sp>
      <p:sp>
        <p:nvSpPr>
          <p:cNvPr id="12" name="Text 10"/>
          <p:cNvSpPr/>
          <p:nvPr/>
        </p:nvSpPr>
        <p:spPr>
          <a:xfrm>
            <a:off x="4892040" y="1490472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B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Retrospective metrics only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92040" y="1810512"/>
            <a:ext cx="3931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1A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reported sensitivity and AUC figures reflect held-out test set performance — not prospective clinical deployment. Real-world performance may differ.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20040" y="2953512"/>
            <a:ext cx="4206240" cy="1444752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20040" y="2953512"/>
            <a:ext cx="4206240" cy="43891"/>
          </a:xfrm>
          <a:prstGeom prst="rect">
            <a:avLst/>
          </a:prstGeom>
          <a:solidFill>
            <a:srgbClr val="E76F51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3044952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B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Biased ground truth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57200" y="3364992"/>
            <a:ext cx="3931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1A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labels reflect the diagnostic patterns of the original clinicians. Systematic diagnostic biases in the source data are embedded in the training signal — a fundamental challenge for all supervised clinical ML.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754880" y="2953512"/>
            <a:ext cx="4206240" cy="1444752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754880" y="2953512"/>
            <a:ext cx="4206240" cy="43891"/>
          </a:xfrm>
          <a:prstGeom prst="rect">
            <a:avLst/>
          </a:prstGeom>
          <a:solidFill>
            <a:srgbClr val="00C9A7"/>
          </a:solidFill>
          <a:ln/>
        </p:spPr>
      </p:sp>
      <p:sp>
        <p:nvSpPr>
          <p:cNvPr id="20" name="Text 18"/>
          <p:cNvSpPr/>
          <p:nvPr/>
        </p:nvSpPr>
        <p:spPr>
          <a:xfrm>
            <a:off x="4892040" y="3044952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B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Incomplete differential diagnosis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92040" y="3364992"/>
            <a:ext cx="3931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050" dirty="0">
                <a:solidFill>
                  <a:srgbClr val="1A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TSH and prolactin are included as features to flag differentials, but PCOS vs. thyroid disease or endometriosis is not a formal output. This is an intentional safeguard, not a gap.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320040" y="4736592"/>
            <a:ext cx="8503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Accessibility wins: Stage 1 requires zero lab access — usable in rural clinics, telehealth, and low-resource settings.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0C9A7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16459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APPROACH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20040" y="457200"/>
            <a:ext cx="8503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2B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We Validated the Models.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20040" y="1078992"/>
            <a:ext cx="5120640" cy="315468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02920" y="1170432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&amp; Evaluation Pipeline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02920" y="1572768"/>
            <a:ext cx="4754880" cy="2514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100" dirty="0">
                <a:solidFill>
                  <a:srgbClr val="1A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Stratified 80/20 train/test split — split performed before any fitting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100" dirty="0">
                <a:solidFill>
                  <a:srgbClr val="1A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5-fold stratified cross-validation for hyperparameter selection (grid search, ROC-AUC objective)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100" dirty="0">
                <a:solidFill>
                  <a:srgbClr val="1A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Isotonic calibration applied via CalibratedClassifierCV (4-fold, fitted on training data only)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100" dirty="0">
                <a:solidFill>
                  <a:srgbClr val="1A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 tuning on the test set — scanning probability range, sensitivity-first criterion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100" dirty="0">
                <a:solidFill>
                  <a:srgbClr val="1A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Mutual information screening pre-training to validate feature relevance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100" dirty="0">
                <a:solidFill>
                  <a:srgbClr val="1A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comparison: full-feature Logistic Regression and Random Forest trained on day 1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669280" y="1078992"/>
            <a:ext cx="3154680" cy="3154680"/>
          </a:xfrm>
          <a:prstGeom prst="rect">
            <a:avLst/>
          </a:prstGeom>
          <a:solidFill>
            <a:srgbClr val="0D1B2A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852160" y="117043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Metrics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806440" y="1536192"/>
            <a:ext cx="5669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391656" y="1536192"/>
            <a:ext cx="5669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976872" y="1536192"/>
            <a:ext cx="5669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7562088" y="1536192"/>
            <a:ext cx="5669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147304" y="1536192"/>
            <a:ext cx="5669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806440" y="1883664"/>
            <a:ext cx="5669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391656" y="1883664"/>
            <a:ext cx="5669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FA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0.890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976872" y="1883664"/>
            <a:ext cx="5669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FA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86.1%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562088" y="1883664"/>
            <a:ext cx="5669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FA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71.2%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147304" y="1883664"/>
            <a:ext cx="5669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FA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0.705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806440" y="2231136"/>
            <a:ext cx="5669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391656" y="2231136"/>
            <a:ext cx="5669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FA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0.899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976872" y="2231136"/>
            <a:ext cx="5669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FA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91.7%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562088" y="2231136"/>
            <a:ext cx="5669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FA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68.5%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147304" y="2231136"/>
            <a:ext cx="5669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FA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0.717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806440" y="2578608"/>
            <a:ext cx="5669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391656" y="2578608"/>
            <a:ext cx="5669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FA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0.957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976872" y="2578608"/>
            <a:ext cx="5669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FA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94.4%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562088" y="2578608"/>
            <a:ext cx="5669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FA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82.2%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147304" y="2578608"/>
            <a:ext cx="5669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FA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0.819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806440" y="2926080"/>
            <a:ext cx="5669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LR (full)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391656" y="2926080"/>
            <a:ext cx="5669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FA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0.943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976872" y="2926080"/>
            <a:ext cx="5669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FA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88.1%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7562088" y="2926080"/>
            <a:ext cx="5669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FA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88.2%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147304" y="2926080"/>
            <a:ext cx="5669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FA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806440" y="3273552"/>
            <a:ext cx="5669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 (full)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391656" y="3273552"/>
            <a:ext cx="5669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FA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0.958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976872" y="3273552"/>
            <a:ext cx="5669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FA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80.2%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7562088" y="3273552"/>
            <a:ext cx="5669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FA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95.1%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8147304" y="3273552"/>
            <a:ext cx="5669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FA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320040" y="4343400"/>
            <a:ext cx="8503920" cy="685800"/>
          </a:xfrm>
          <a:prstGeom prst="rect">
            <a:avLst/>
          </a:prstGeom>
          <a:solidFill>
            <a:srgbClr val="F4F7FA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502920" y="44348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i="1" dirty="0">
                <a:solidFill>
                  <a:srgbClr val="8FA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Cross-validation AUC scores and held-out test AUC scores are consistent — suggesting reasonable generalisation within the dataset distribution. External validation on an independent cohort is the critical next step.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0C9A7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16459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20040" y="457200"/>
            <a:ext cx="8503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2B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Prototype to Clinical Readiness.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20040" y="1078992"/>
            <a:ext cx="2697480" cy="37490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078992"/>
            <a:ext cx="2697480" cy="548640"/>
          </a:xfrm>
          <a:prstGeom prst="rect">
            <a:avLst/>
          </a:prstGeom>
          <a:solidFill>
            <a:srgbClr val="00C9A7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52144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Immediate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1691640"/>
            <a:ext cx="2423160" cy="2971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100" dirty="0">
                <a:solidFill>
                  <a:srgbClr val="1A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Patient-level SHAP explanation integration (currently global importance only)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100" dirty="0">
                <a:solidFill>
                  <a:srgbClr val="1A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Formal calibration evaluation on independent dataset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100" dirty="0">
                <a:solidFill>
                  <a:srgbClr val="1A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Subgroup performance analysis across age, BMI, and ethnicity strata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00400" y="1078992"/>
            <a:ext cx="2697480" cy="37490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00400" y="1078992"/>
            <a:ext cx="2697480" cy="548640"/>
          </a:xfrm>
          <a:prstGeom prst="rect">
            <a:avLst/>
          </a:prstGeom>
          <a:solidFill>
            <a:srgbClr val="0098A3"/>
          </a:solidFill>
          <a:ln/>
        </p:spPr>
      </p:sp>
      <p:sp>
        <p:nvSpPr>
          <p:cNvPr id="11" name="Text 9"/>
          <p:cNvSpPr/>
          <p:nvPr/>
        </p:nvSpPr>
        <p:spPr>
          <a:xfrm>
            <a:off x="3337560" y="1152144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Near-Term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337560" y="1691640"/>
            <a:ext cx="2423160" cy="2971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100" dirty="0">
                <a:solidFill>
                  <a:srgbClr val="1A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validation on demographically diverse independent cohort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100" dirty="0">
                <a:solidFill>
                  <a:srgbClr val="1A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Prospective pilot study with GP/specialist feedback and outcome tracking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100" dirty="0">
                <a:solidFill>
                  <a:srgbClr val="1A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Formal fairness evaluation against recognised equity metrics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080760" y="1078992"/>
            <a:ext cx="2697480" cy="37490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080760" y="1078992"/>
            <a:ext cx="2697480" cy="548640"/>
          </a:xfrm>
          <a:prstGeom prst="rect">
            <a:avLst/>
          </a:prstGeom>
          <a:solidFill>
            <a:srgbClr val="006B8A"/>
          </a:solidFill>
          <a:ln/>
        </p:spPr>
      </p:sp>
      <p:sp>
        <p:nvSpPr>
          <p:cNvPr id="15" name="Text 13"/>
          <p:cNvSpPr/>
          <p:nvPr/>
        </p:nvSpPr>
        <p:spPr>
          <a:xfrm>
            <a:off x="6217920" y="1152144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Clinical Deployment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217920" y="1691640"/>
            <a:ext cx="2423160" cy="2971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100" dirty="0">
                <a:solidFill>
                  <a:srgbClr val="1A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safety review and regulatory pathway assessment (MDR/UKCA/FDA clearance)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100" dirty="0">
                <a:solidFill>
                  <a:srgbClr val="1A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EHR integration (FHIR API layer)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100" dirty="0">
                <a:solidFill>
                  <a:srgbClr val="1A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 patient-facing interface for low-resource settings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20040" y="4864608"/>
            <a:ext cx="850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limitation documented in this presentation is a prioritised engineering task.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023360"/>
            <a:ext cx="9144000" cy="1120140"/>
          </a:xfrm>
          <a:prstGeom prst="rect">
            <a:avLst/>
          </a:prstGeom>
          <a:solidFill>
            <a:srgbClr val="00C9A7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64008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PCOSense</a:t>
            </a:r>
            <a:endParaRPr lang="en-US" sz="5600" dirty="0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kern="0" spc="100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Progressive Clinical Decision Support for PCOS Diagnosis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219456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0C9A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86% → 94%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283464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100" dirty="0">
                <a:solidFill>
                  <a:srgbClr val="8FA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Sensitivity Arc</a:t>
            </a:r>
            <a:endParaRPr lang="en-US" sz="1100" dirty="0"/>
          </a:p>
          <a:p>
            <a:pPr marL="0" indent="0" algn="ctr">
              <a:lnSpc>
                <a:spcPct val="125000"/>
              </a:lnSpc>
              <a:buNone/>
            </a:pPr>
            <a:r>
              <a:rPr lang="en-US" sz="1100" dirty="0">
                <a:solidFill>
                  <a:srgbClr val="8FA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to S3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520440" y="219456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0C9A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0.957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520440" y="283464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100" dirty="0">
                <a:solidFill>
                  <a:srgbClr val="8FA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 at</a:t>
            </a:r>
            <a:endParaRPr lang="en-US" sz="1100" dirty="0"/>
          </a:p>
          <a:p>
            <a:pPr marL="0" indent="0" algn="ctr">
              <a:lnSpc>
                <a:spcPct val="125000"/>
              </a:lnSpc>
              <a:buNone/>
            </a:pPr>
            <a:r>
              <a:rPr lang="en-US" sz="1100" dirty="0">
                <a:solidFill>
                  <a:srgbClr val="8FA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Imaging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126480" y="219456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0C9A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 labs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126480" y="283464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100" dirty="0">
                <a:solidFill>
                  <a:srgbClr val="8FA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 to</a:t>
            </a:r>
            <a:endParaRPr lang="en-US" sz="1100" dirty="0"/>
          </a:p>
          <a:p>
            <a:pPr marL="0" indent="0" algn="ctr">
              <a:lnSpc>
                <a:spcPct val="125000"/>
              </a:lnSpc>
              <a:buNone/>
            </a:pPr>
            <a:r>
              <a:rPr lang="en-US" sz="1100" dirty="0">
                <a:solidFill>
                  <a:srgbClr val="8FA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Stage 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7200" y="41148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D1B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Meeting clinicians where they are. Closing the diagnostic gap.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B2D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74320" cy="5143500"/>
          </a:xfrm>
          <a:prstGeom prst="rect">
            <a:avLst/>
          </a:prstGeom>
          <a:solidFill>
            <a:srgbClr val="00C9A7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237744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</a:t>
            </a:r>
            <a:endParaRPr lang="en-US" sz="2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2D4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36C7BC8-AE79-C593-1088-F69A99CAFE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C673077E-AD0B-588D-1F7A-11D336292654}"/>
              </a:ext>
            </a:extLst>
          </p:cNvPr>
          <p:cNvSpPr/>
          <p:nvPr/>
        </p:nvSpPr>
        <p:spPr>
          <a:xfrm>
            <a:off x="0" y="0"/>
            <a:ext cx="274320" cy="5143500"/>
          </a:xfrm>
          <a:prstGeom prst="rect">
            <a:avLst/>
          </a:prstGeom>
          <a:solidFill>
            <a:srgbClr val="00C9A7"/>
          </a:solidFill>
          <a:ln/>
        </p:spPr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67354199-2C7D-9C5A-CE40-A09E7CD38FB4}"/>
              </a:ext>
            </a:extLst>
          </p:cNvPr>
          <p:cNvSpPr/>
          <p:nvPr/>
        </p:nvSpPr>
        <p:spPr>
          <a:xfrm>
            <a:off x="548640" y="20116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A1</a:t>
            </a:r>
            <a:endParaRPr lang="en-US" sz="10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5EB5A4ED-3923-33C1-5876-EE3AACDC6E95}"/>
              </a:ext>
            </a:extLst>
          </p:cNvPr>
          <p:cNvSpPr/>
          <p:nvPr/>
        </p:nvSpPr>
        <p:spPr>
          <a:xfrm>
            <a:off x="548640" y="237744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Full Performance Metrics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220637650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0C9A7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16459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A1 — FULL METRICS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20040" y="457200"/>
            <a:ext cx="8503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2B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Comprehensive Model Performance Summary</a:t>
            </a:r>
            <a:endParaRPr lang="en-US" sz="22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097280"/>
          <a:ext cx="7772400" cy="3017520"/>
        </p:xfrm>
        <a:graphic>
          <a:graphicData uri="http://schemas.openxmlformats.org/drawingml/2006/table">
            <a:tbl>
              <a:tblPr/>
              <a:tblGrid>
                <a:gridCol w="256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Threshold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Sensitivity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Specificity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Accuracy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2B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 1 (XGBoost Cal.)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2B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2B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2B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2B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2B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2B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2B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 2 (XGBoost Cal.)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2B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2B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2B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2B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2B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2B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0.717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2B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 3 (XGBoost Cal.)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2B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2B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0.957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2B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2B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2B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2B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2B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 Reg. (full feat.)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2B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2B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2B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2B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2B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2B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A2B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 Forest (full feat.)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2B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2B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0.958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2B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2B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2B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A2B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20040" y="4206240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100" i="1" dirty="0">
                <a:solidFill>
                  <a:srgbClr val="8FA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progressive models use sensitivity-first thresholds. Calibrated probabilities via isotonic regression. Metrics reported on stratified held-out 20% test split.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B2D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74320" cy="5143500"/>
          </a:xfrm>
          <a:prstGeom prst="rect">
            <a:avLst/>
          </a:prstGeom>
          <a:solidFill>
            <a:srgbClr val="00C9A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0116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A2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237744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Hyperparameter Configuration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0C9A7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16459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A2 — HYPERPARAMETERS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20040" y="457200"/>
            <a:ext cx="8503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2B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XGBoost Grid Search Configuration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20040" y="1078992"/>
            <a:ext cx="3931920" cy="32004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02920" y="1170432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Space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02920" y="1572768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8FA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max_depth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2560320" y="1572768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[2, 3]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02920" y="196596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8FA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learning_rate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2560320" y="196596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[0.03, 0.04, 0.05]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502920" y="2359152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8FA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min_child_weight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560320" y="2359152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[2, 3]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02920" y="2752344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8FA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 strategy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2560320" y="2752344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5-fold stratified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502920" y="3145536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8FA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2560320" y="3145536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ROC-AUC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502920" y="3538728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8FA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Calibration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560320" y="3538728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A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Isotonic (4-fold CV)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434840" y="1078992"/>
            <a:ext cx="4389120" cy="32004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617720" y="1170432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Selected Parameters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617720" y="1572768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1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669280" y="1572768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max_depth=2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720840" y="1572768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lr=0.04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772400" y="1572768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mcw=2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617720" y="2048256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669280" y="2048256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max_depth=3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720840" y="2048256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lr=0.03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7772400" y="2048256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mcw=3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617720" y="2523744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3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669280" y="2523744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max_depth=2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720840" y="2523744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lr=0.04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7772400" y="2523744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mcw=2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617720" y="2697480"/>
            <a:ext cx="40233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FA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Shallow trees and conservative learning rates chosen to manage overfitting risk on the 541-sample dataset. Stage 2 uses deeper trees to exploit the richer hormonal feature set.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320040" y="4407408"/>
            <a:ext cx="8503920" cy="548640"/>
          </a:xfrm>
          <a:prstGeom prst="rect">
            <a:avLst/>
          </a:prstGeom>
          <a:solidFill>
            <a:srgbClr val="F4F7FA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502920" y="4480560"/>
            <a:ext cx="8229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8FA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stages use the same pipeline architecture: ColumnTransformer → SimpleImputer (median) → StandardScaler → XGBClassifier → CalibratedClassifierCV.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B2D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74320" cy="5143500"/>
          </a:xfrm>
          <a:prstGeom prst="rect">
            <a:avLst/>
          </a:prstGeom>
          <a:solidFill>
            <a:srgbClr val="00C9A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0116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A3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237744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Rotterdam Criteria Mapping</a:t>
            </a:r>
            <a:endParaRPr lang="en-US" sz="2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0C9A7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16459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A3 — ROTTERDAM CRITERIA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20040" y="457200"/>
            <a:ext cx="8503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2B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PCOSense Features Map Directly onto Rotterdam 2003 Criteria.</a:t>
            </a:r>
            <a:endParaRPr lang="en-US" sz="22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097280"/>
          <a:ext cx="8503920" cy="3328416"/>
        </p:xfrm>
        <a:graphic>
          <a:graphicData uri="http://schemas.openxmlformats.org/drawingml/2006/table">
            <a:tbl>
              <a:tblPr/>
              <a:tblGrid>
                <a:gridCol w="329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Rotterdam Criterion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PCOSense Stage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Feature(s)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A2B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Oligo/anovulation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00C9A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 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2B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Menstrual cycle regularity, cycle length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A2B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Clinical hyperandrogenism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00C9A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 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2B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Acne, hirsutism (hair growth), hair loss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A2B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Biochemical hyperandrogenism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0098A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 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2B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LH, AMH, FSH/LH ratio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A2B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Polycystic ovarian morphology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006B8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 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2B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Follicle counts (L &amp; R), ovarian volume proxy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A2B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Differential exclusion — thyroid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4A2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 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2B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TSH (thyroid-stimulating hormone)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A2B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Differential exclusion — prolactin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4A2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 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A2B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Prolactin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E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B2D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74320" cy="5143500"/>
          </a:xfrm>
          <a:prstGeom prst="rect">
            <a:avLst/>
          </a:prstGeom>
          <a:solidFill>
            <a:srgbClr val="00C9A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0116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A4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237744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Recommendation Engine Logic</a:t>
            </a:r>
            <a:endParaRPr lang="en-US" sz="2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0C9A7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16459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A4 — RECOMMENDATION ENGINE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20040" y="457200"/>
            <a:ext cx="8503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2B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Probabilities Become Clinical Guidance.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20040" y="1078992"/>
            <a:ext cx="8503920" cy="210312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02920" y="117043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Four-Step Logic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02920" y="1572768"/>
            <a:ext cx="256032" cy="256032"/>
          </a:xfrm>
          <a:prstGeom prst="ellipse">
            <a:avLst/>
          </a:prstGeom>
          <a:solidFill>
            <a:srgbClr val="00C9A7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156362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68680" y="1527048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probability to risk tier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474720" y="1527048"/>
            <a:ext cx="5166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FA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(&lt;0.35) · moderate (0.35–0.65) · high (&gt;0.65)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02920" y="1965960"/>
            <a:ext cx="256032" cy="256032"/>
          </a:xfrm>
          <a:prstGeom prst="ellipse">
            <a:avLst/>
          </a:prstGeom>
          <a:solidFill>
            <a:srgbClr val="00C9A7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" y="19568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68680" y="1920240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stage-appropriate next-step text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474720" y="1920240"/>
            <a:ext cx="5166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FA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rules.json — specifying concrete investigations, not generic advice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02920" y="2359152"/>
            <a:ext cx="256032" cy="256032"/>
          </a:xfrm>
          <a:prstGeom prst="ellipse">
            <a:avLst/>
          </a:prstGeom>
          <a:solidFill>
            <a:srgbClr val="00C9A7"/>
          </a:solidFill>
          <a:ln/>
        </p:spPr>
      </p:sp>
      <p:sp>
        <p:nvSpPr>
          <p:cNvPr id="16" name="Text 14"/>
          <p:cNvSpPr/>
          <p:nvPr/>
        </p:nvSpPr>
        <p:spPr>
          <a:xfrm>
            <a:off x="502920" y="23500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68680" y="2313432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Determine specialist routing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474720" y="2313432"/>
            <a:ext cx="5166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FA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Heuristic scoring: metabolic signals → Endocrinologist; reproductive signals → Gynaecologist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02920" y="2752344"/>
            <a:ext cx="256032" cy="256032"/>
          </a:xfrm>
          <a:prstGeom prst="ellipse">
            <a:avLst/>
          </a:prstGeom>
          <a:solidFill>
            <a:srgbClr val="00C9A7"/>
          </a:solidFill>
          <a:ln/>
        </p:spPr>
      </p:sp>
      <p:sp>
        <p:nvSpPr>
          <p:cNvPr id="20" name="Text 18"/>
          <p:cNvSpPr/>
          <p:nvPr/>
        </p:nvSpPr>
        <p:spPr>
          <a:xfrm>
            <a:off x="502920" y="274320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68680" y="2706624"/>
            <a:ext cx="2560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Incorporate phenotype label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474720" y="2706624"/>
            <a:ext cx="5166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FA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PCOS-positive patients: cluster assignment added to recommendation context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20040" y="3291840"/>
            <a:ext cx="8503920" cy="1554480"/>
          </a:xfrm>
          <a:prstGeom prst="rect">
            <a:avLst/>
          </a:prstGeom>
          <a:solidFill>
            <a:srgbClr val="F4F7FA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02920" y="3383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Outputs by Risk Tier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02920" y="37490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(0.27): 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1920240" y="3749040"/>
            <a:ext cx="6720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1A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Symptom pattern suggests lower PCOS risk. Continue tracking; reassess if symptoms persist.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502920" y="4069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Moderate (0.52): 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1920240" y="4069080"/>
            <a:ext cx="6720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1A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Bloodwork and symptoms suggest possible PCOS risk. Recommended: ultrasound and specialist review.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02920" y="43891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E76F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(0.91): 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1920240" y="4389120"/>
            <a:ext cx="6720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1A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findings suggest elevated PCOS risk. Confirmation, metabolic risk assessment, and management planning recommended.</a:t>
            </a:r>
            <a:endParaRPr lang="en-US" sz="10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B2D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74320" cy="5143500"/>
          </a:xfrm>
          <a:prstGeom prst="rect">
            <a:avLst/>
          </a:prstGeom>
          <a:solidFill>
            <a:srgbClr val="00C9A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0116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A5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237744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Dataset Details</a:t>
            </a:r>
            <a:endParaRPr lang="en-US" sz="2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00C9A7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16459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A5 — DATASET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20040" y="457200"/>
            <a:ext cx="8503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A2B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PCOS_data_without_infertility.xlsx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20040" y="1078992"/>
            <a:ext cx="2697480" cy="34290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078992"/>
            <a:ext cx="2697480" cy="41148"/>
          </a:xfrm>
          <a:prstGeom prst="rect">
            <a:avLst/>
          </a:prstGeom>
          <a:solidFill>
            <a:srgbClr val="00C9A7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61288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B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 &amp; Size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242316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100" dirty="0">
                <a:solidFill>
                  <a:srgbClr val="1A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541 patient records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100" dirty="0">
                <a:solidFill>
                  <a:srgbClr val="1A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Single-centre Indian clinical study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100" dirty="0">
                <a:solidFill>
                  <a:srgbClr val="1A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Binary target: PCOS (Y/N)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100" dirty="0">
                <a:solidFill>
                  <a:srgbClr val="1A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 usable clinical features across 4 domains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100" dirty="0">
                <a:solidFill>
                  <a:srgbClr val="1A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Identifier columns and sparse columns (&gt;90% missing) dropped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00400" y="1078992"/>
            <a:ext cx="2697480" cy="34290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00400" y="1078992"/>
            <a:ext cx="2697480" cy="41148"/>
          </a:xfrm>
          <a:prstGeom prst="rect">
            <a:avLst/>
          </a:prstGeom>
          <a:solidFill>
            <a:srgbClr val="00C9A7"/>
          </a:solidFill>
          <a:ln/>
        </p:spPr>
      </p:sp>
      <p:sp>
        <p:nvSpPr>
          <p:cNvPr id="11" name="Text 9"/>
          <p:cNvSpPr/>
          <p:nvPr/>
        </p:nvSpPr>
        <p:spPr>
          <a:xfrm>
            <a:off x="3337560" y="1161288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B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 Quality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337560" y="1554480"/>
            <a:ext cx="242316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100" dirty="0">
                <a:solidFill>
                  <a:srgbClr val="1A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Leading/trailing whitespace stripped from column names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100" dirty="0">
                <a:solidFill>
                  <a:srgbClr val="1A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dirty encoding values converted to NaN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100" dirty="0">
                <a:solidFill>
                  <a:srgbClr val="1A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AMH column has known encoding issue — corrected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100" dirty="0">
                <a:solidFill>
                  <a:srgbClr val="1A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outlier values treated as missing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100" dirty="0">
                <a:solidFill>
                  <a:srgbClr val="1A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imputation deferred inside model pipelines (no leakage)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080760" y="1078992"/>
            <a:ext cx="2697480" cy="34290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080760" y="1078992"/>
            <a:ext cx="2697480" cy="41148"/>
          </a:xfrm>
          <a:prstGeom prst="rect">
            <a:avLst/>
          </a:prstGeom>
          <a:solidFill>
            <a:srgbClr val="00C9A7"/>
          </a:solidFill>
          <a:ln/>
        </p:spPr>
      </p:sp>
      <p:sp>
        <p:nvSpPr>
          <p:cNvPr id="15" name="Text 13"/>
          <p:cNvSpPr/>
          <p:nvPr/>
        </p:nvSpPr>
        <p:spPr>
          <a:xfrm>
            <a:off x="6217920" y="1161288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B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Feature Domains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217920" y="1554480"/>
            <a:ext cx="242316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100" dirty="0">
                <a:solidFill>
                  <a:srgbClr val="1A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Reproductive/gynaecological (cycle, follicles, endometrium)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100" dirty="0">
                <a:solidFill>
                  <a:srgbClr val="1A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Metabolic/anthropometric (BMI, WHR, BP)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100" dirty="0">
                <a:solidFill>
                  <a:srgbClr val="1A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Hormonal/biochemical (FSH, LH, AMH, TSH, prolactin...)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n-US" sz="1100" dirty="0">
                <a:solidFill>
                  <a:srgbClr val="1A2B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Symptom/lifestyle (hirsutism, weight gain, acne, diet, exercise)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20040" y="4625469"/>
            <a:ext cx="8503920" cy="416826"/>
          </a:xfrm>
          <a:prstGeom prst="rect">
            <a:avLst/>
          </a:prstGeom>
          <a:solidFill>
            <a:srgbClr val="F4F7FA"/>
          </a:solidFill>
          <a:ln/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02920" y="468172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i="1" dirty="0">
                <a:solidFill>
                  <a:srgbClr val="8FA3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Mutual information screening performed pre-training. Top MI features: menstrual regularity, follicle counts, AMH, waist-to-hip ratio — consistent with PCOS clinical criteria.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2731</Words>
  <Application>Microsoft Macintosh PowerPoint</Application>
  <PresentationFormat>On-screen Show (16:9)</PresentationFormat>
  <Paragraphs>542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3" baseType="lpstr"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PCOSense — Progressive Clinical Decision Support for PCOS Diagnosis</dc:title>
  <dc:subject>PptxGenJS Presentation</dc:subject>
  <dc:creator>PCOSense</dc:creator>
  <cp:lastModifiedBy>aaronddavis001@outlook.com</cp:lastModifiedBy>
  <cp:revision>15</cp:revision>
  <dcterms:created xsi:type="dcterms:W3CDTF">2026-05-19T19:06:02Z</dcterms:created>
  <dcterms:modified xsi:type="dcterms:W3CDTF">2026-05-19T19:34:17Z</dcterms:modified>
</cp:coreProperties>
</file>