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2" r:id="rId14"/>
    <p:sldId id="273" r:id="rId15"/>
    <p:sldId id="274" r:id="rId16"/>
    <p:sldId id="284" r:id="rId17"/>
    <p:sldId id="275" r:id="rId18"/>
    <p:sldId id="276" r:id="rId19"/>
    <p:sldId id="277" r:id="rId20"/>
    <p:sldId id="278" r:id="rId21"/>
    <p:sldId id="279" r:id="rId22"/>
    <p:sldId id="280" r:id="rId23"/>
    <p:sldId id="267" r:id="rId24"/>
    <p:sldId id="268" r:id="rId25"/>
    <p:sldId id="285" r:id="rId26"/>
    <p:sldId id="266" r:id="rId27"/>
    <p:sldId id="281" r:id="rId28"/>
    <p:sldId id="282" r:id="rId29"/>
    <p:sldId id="271" r:id="rId30"/>
    <p:sldId id="286" r:id="rId31"/>
    <p:sldId id="283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FA3B1"/>
                </a:solidFill>
                <a:latin typeface="Georgia" panose="02040502050405020303" pitchFamily="18" charset="0"/>
              </a:defRPr>
            </a:pPr>
            <a:r>
              <a:rPr lang="en-IN" sz="1100" b="0" i="0" u="none" strike="noStrike">
                <a:solidFill>
                  <a:srgbClr val="8FA3B1"/>
                </a:solidFill>
                <a:latin typeface="Georgia" panose="02040502050405020303" pitchFamily="18" charset="0"/>
              </a:rPr>
              <a:t>AUC by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42-F94D-9619-4CBDEF22B354}"/>
              </c:ext>
            </c:extLst>
          </c:dPt>
          <c:dPt>
            <c:idx val="1"/>
            <c:invertIfNegative val="0"/>
            <c:bubble3D val="0"/>
            <c:spPr>
              <a:solidFill>
                <a:srgbClr val="0098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42-F94D-9619-4CBDEF22B354}"/>
              </c:ext>
            </c:extLst>
          </c:dPt>
          <c:dPt>
            <c:idx val="2"/>
            <c:invertIfNegative val="0"/>
            <c:bubble3D val="0"/>
            <c:spPr>
              <a:solidFill>
                <a:srgbClr val="006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42-F94D-9619-4CBDEF22B3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Stage 1
(Symptoms only)</c:v>
                </c:pt>
                <c:pt idx="1">
                  <c:v>Stage 2
(+ Blood panel)</c:v>
                </c:pt>
                <c:pt idx="2">
                  <c:v>Stage 3
(+ Ultrasound)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</c:v>
                </c:pt>
                <c:pt idx="1">
                  <c:v>0.89900000000000002</c:v>
                </c:pt>
                <c:pt idx="2">
                  <c:v>0.95699999999999996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42-F94D-9619-4CBDEF22B3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Georgia" panose="02040502050405020303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2A3F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Georgia" panose="02040502050405020303" pitchFamily="18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D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FA3B1"/>
                </a:solidFill>
                <a:latin typeface="Georgia" panose="02040502050405020303" pitchFamily="18" charset="0"/>
              </a:defRPr>
            </a:pPr>
            <a:r>
              <a:rPr lang="en-IN" sz="1100" b="0" i="0" u="none" strike="noStrike">
                <a:solidFill>
                  <a:srgbClr val="8FA3B1"/>
                </a:solidFill>
                <a:latin typeface="Georgia" panose="02040502050405020303" pitchFamily="18" charset="0"/>
              </a:rPr>
              <a:t>Sensitivity % by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74-A042-87F8-55CAF64B6441}"/>
              </c:ext>
            </c:extLst>
          </c:dPt>
          <c:dPt>
            <c:idx val="1"/>
            <c:invertIfNegative val="0"/>
            <c:bubble3D val="0"/>
            <c:spPr>
              <a:solidFill>
                <a:srgbClr val="0098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74-A042-87F8-55CAF64B6441}"/>
              </c:ext>
            </c:extLst>
          </c:dPt>
          <c:dPt>
            <c:idx val="2"/>
            <c:invertIfNegative val="0"/>
            <c:bubble3D val="0"/>
            <c:spPr>
              <a:solidFill>
                <a:srgbClr val="006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74-A042-87F8-55CAF64B64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86.1</c:v>
                </c:pt>
                <c:pt idx="1">
                  <c:v>91.7</c:v>
                </c:pt>
                <c:pt idx="2">
                  <c:v>94.4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74-A042-87F8-55CAF64B64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Georgia" panose="02040502050405020303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2A3F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Georgia" panose="02040502050405020303" pitchFamily="18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D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26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4245-ADF0-9BAC-96EB-5C115245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4F82F-E25E-2A09-6629-1C105BFCC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E2A8F-2575-A092-EA5A-5385F91C0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794F6-FDC8-E235-DD89-8A4E7C9DB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380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3283-405A-F3EA-2381-347B906C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44FCC-A032-5C30-045A-B37CBB09F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AFBD6-F85C-0DC7-5B79-80794ABBB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EA579-3B6B-A41A-E839-BA051C6B33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80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0B2B-2DC0-2324-5D65-E0200B2B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ADDEE-51C9-D940-496D-97E4ED983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10D88-601E-CA48-6BDB-425CF90C6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A351B-EC23-E8FD-769F-81AE502CB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84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164592" y="184158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PCOSense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" y="2788920"/>
            <a:ext cx="2743200" cy="950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Clinical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PCOS Diagnosis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4592" y="2664740"/>
            <a:ext cx="2377440" cy="22860"/>
          </a:xfrm>
          <a:prstGeom prst="rect">
            <a:avLst/>
          </a:prstGeom>
          <a:solidFill>
            <a:srgbClr val="1B2D40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474345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1B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BioHackathon</a:t>
            </a:r>
            <a:r>
              <a:rPr lang="en-US" sz="1000" i="1" dirty="0">
                <a:solidFill>
                  <a:srgbClr val="1B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Gap.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2788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ML platform that meets clinicians where they are — no blood test required to start.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4617720"/>
            <a:ext cx="6035040" cy="525780"/>
          </a:xfrm>
          <a:prstGeom prst="rect">
            <a:avLst/>
          </a:prstGeom>
          <a:solidFill>
            <a:srgbClr val="1B2D4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4663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SHAP  ·  Calibrated Probabilities  ·  Phenotype Clustering  ·  </a:t>
            </a:r>
            <a:r>
              <a:rPr lang="en-US" sz="950" kern="0" spc="10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</a:t>
            </a:r>
            <a:r>
              <a:rPr lang="en-US" sz="950" kern="0" spc="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PCOS Is Everywhere.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Cases Are Invisible.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2057400"/>
            <a:ext cx="2011680" cy="1828800"/>
          </a:xfrm>
          <a:prstGeom prst="rect">
            <a:avLst/>
          </a:prstGeom>
          <a:solidFill>
            <a:srgbClr val="1B2D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057400"/>
            <a:ext cx="201168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9992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reproductive-age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affected globally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2057400"/>
            <a:ext cx="2011680" cy="1828800"/>
          </a:xfrm>
          <a:prstGeom prst="rect">
            <a:avLst/>
          </a:prstGeom>
          <a:solidFill>
            <a:srgbClr val="1B2D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2057400"/>
            <a:ext cx="201168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50592" y="29992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remain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undiagnosed (WHO)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057400"/>
            <a:ext cx="2011680" cy="1828800"/>
          </a:xfrm>
          <a:prstGeom prst="rect">
            <a:avLst/>
          </a:prstGeom>
          <a:solidFill>
            <a:srgbClr val="1B2D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2057400"/>
            <a:ext cx="201168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2+ yrs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26864" y="29992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diagnosis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2057400"/>
            <a:ext cx="2011680" cy="1828800"/>
          </a:xfrm>
          <a:prstGeom prst="rect">
            <a:avLst/>
          </a:prstGeom>
          <a:solidFill>
            <a:srgbClr val="1B2D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2057400"/>
            <a:ext cx="201168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6803136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03136" y="29992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seen before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diagnosis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data problem — it is a clinical synthesis problem.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has no single confirmatory test. Diagnosis demands simultaneous synthesis of symptoms, hormones, and imaging — under time pressure.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PCOSense: A Staged Diagnostic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clinicians where they are — from a GP's first consultation to a specialist's imaging review.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697480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0280" y="14813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Symptomatic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blood test required.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+ anthropometrics.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47872"/>
            <a:ext cx="2697480" cy="65836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0.890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67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86.1%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4630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463040"/>
            <a:ext cx="2697480" cy="640080"/>
          </a:xfrm>
          <a:prstGeom prst="rect">
            <a:avLst/>
          </a:prstGeom>
          <a:solidFill>
            <a:srgbClr val="0098A3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14813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3756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Hormonal &amp;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Metabolic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28529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panel markers.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LH, AMH, TSH, glucose.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547872"/>
            <a:ext cx="2697480" cy="65836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0.899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867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91.7%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4630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463040"/>
            <a:ext cx="2697480" cy="640080"/>
          </a:xfrm>
          <a:prstGeom prst="rect">
            <a:avLst/>
          </a:prstGeom>
          <a:solidFill>
            <a:srgbClr val="006B8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01000" y="14813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1792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Imaging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0" y="28529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findings.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 counts + endometrium.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3547872"/>
            <a:ext cx="2697480" cy="65836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0.957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867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94.4%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2852928"/>
            <a:ext cx="137160" cy="22860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34" name="Text 32"/>
          <p:cNvSpPr/>
          <p:nvPr/>
        </p:nvSpPr>
        <p:spPr>
          <a:xfrm>
            <a:off x="3063240" y="27797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7880" y="2852928"/>
            <a:ext cx="137160" cy="22860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27797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3205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SYMPTOMATIC SCREENING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Lab Required. No Specialist Needed.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Input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Menstrual cycle regularity &amp; length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weight, height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 &amp; hip circumference, WHR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weight gain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hair growth (hirsutism)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darkening (acanthosis)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loss &amp; acne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 frequency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habits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Stage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1554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801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8013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0482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2048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2951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22951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114800" cy="187452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Position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26440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is designed for:</a:t>
            </a:r>
            <a:endParaRPr lang="en-US" sz="1100" dirty="0"/>
          </a:p>
          <a:p>
            <a:pPr lvl="1">
              <a:lnSpc>
                <a:spcPct val="130000"/>
              </a:lnSpc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Primary care GPs</a:t>
            </a:r>
            <a:endParaRPr lang="en-US" sz="1100" dirty="0"/>
          </a:p>
          <a:p>
            <a:pPr lvl="1">
              <a:lnSpc>
                <a:spcPct val="130000"/>
              </a:lnSpc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Telehealth triage</a:t>
            </a:r>
            <a:endParaRPr lang="en-US" sz="1100" dirty="0"/>
          </a:p>
          <a:p>
            <a:pPr lvl="1">
              <a:lnSpc>
                <a:spcPct val="130000"/>
              </a:lnSpc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health workers</a:t>
            </a:r>
            <a:endParaRPr lang="en-US" sz="1100" dirty="0"/>
          </a:p>
          <a:p>
            <a:pPr lvl="1">
              <a:lnSpc>
                <a:spcPct val="130000"/>
              </a:lnSpc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Patient self-assessment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 in under five minutes.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98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33763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HORMONAL &amp; METABOLIC PANEL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Test Adds Material Diagnostic Power.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36301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Additional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 &amp; LH (and FSH/LH ratio)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 — antral follicle pool marker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— thyroid exclusion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 — hyperprolactinaemia exclusion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Progesterone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D3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blood sugar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&amp; diastolic blood pressure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4114800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Stage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536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1536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7830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0299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22768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816352"/>
            <a:ext cx="4114800" cy="189280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Markers Matter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246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LH:FSH reversal is a hallmark of PCOS.</a:t>
            </a:r>
            <a:endParaRPr lang="en-US" sz="11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AMH reflects an enlarged antral follicle pool.</a:t>
            </a:r>
            <a:endParaRPr lang="en-US" sz="11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and prolactin provide active differential diagnosis signals — thyroid disease and hyperprolactinaemia are explicitly excluded.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6B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IMAGING INTEGRATION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Ultrasound Unlocks the Highest Confidence.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Additional Imaging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ovarian follicle count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ovarian follicle count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follicle size (left)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follicle size (right)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Endometrial thickness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621024"/>
            <a:ext cx="4114800" cy="109728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71246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Rotterdam PCOM criterion: ≥12 follicles per ovary (2D) or ovarian volume &gt;10 mL. Stage 3 directly encodes this.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114800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Stage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536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83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17830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2768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16352"/>
            <a:ext cx="4114800" cy="189280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Stage 3 Matters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246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 count features are the top SHAP contributors at Stage 3 — exactly as clinical theory predicts. The AUC jump from 0.899 to 0.957 is not feature inflation; it is the polycystic ovarian morphology criterion doing its clinical job.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Improves With Every Clinical Layer.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36695582"/>
              </p:ext>
            </p:extLst>
          </p:nvPr>
        </p:nvGraphicFramePr>
        <p:xfrm>
          <a:off x="320040" y="105156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308198901"/>
              </p:ext>
            </p:extLst>
          </p:nvPr>
        </p:nvGraphicFramePr>
        <p:xfrm>
          <a:off x="5852160" y="1051560"/>
          <a:ext cx="2971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42793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feature inflation. Each stage adds a clinically meaningful data layer — and the model proves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DESIGN DECISIONS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Screening, Not Just Accuracy.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Sensitivity-First Thresholds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screening context, a false negative (missed PCOS) causes real harm: continued symptoms, delayed treatment, risk of insulin resistance and infertility.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costs one additional investigation — a manageable clinical overhead.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use thresholds tuned to preserve sensitivity above 85%, not to maximise accuracy.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97480" cy="50292"/>
          </a:xfrm>
          <a:prstGeom prst="rect">
            <a:avLst/>
          </a:prstGeom>
          <a:solidFill>
            <a:srgbClr val="0098A3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34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Probabilities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XGBoost outputs are often overconfident. We apply isotonic regression calibration (CalibratedClassifierCV, 4-fold CV) so that a displayed "75% risk" genuinely reflects ~75% posterior probability under the training distribution.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non-negotiable for clinical usability — a clinician acting on a score must be able to trust it as a real probability.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43000"/>
            <a:ext cx="2697480" cy="50292"/>
          </a:xfrm>
          <a:prstGeom prst="rect">
            <a:avLst/>
          </a:prstGeom>
          <a:solidFill>
            <a:srgbClr val="00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Clinical Boundary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78308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attempt to autonomously rule out thyroid dysfunction, hyperprolactinaemia, or endometriosis. Instead, TSH and prolactin markers explicitly flag these differentials to the clinician.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safety design: it's not a limitation — it's the system knowing its role. A confident assistant, not an overconfident replacement.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between sensitivity and specificity is not an oversight — it is an explicit, documented clinical engineering choice.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AI Must Show Its Work.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is integrated across all three stage models.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447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Contributors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73452"/>
            <a:ext cx="118872" cy="1188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9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Hirsutism (hair growth)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7500"/>
            <a:ext cx="118872" cy="1188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1548"/>
            <a:ext cx="118872" cy="1188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darkening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58184"/>
            <a:ext cx="2697480" cy="2286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81044"/>
            <a:ext cx="242316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directly to hyperandrogenic &amp; metabolic PCOS criteria.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37160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371600"/>
            <a:ext cx="2697480" cy="502920"/>
          </a:xfrm>
          <a:prstGeom prst="rect">
            <a:avLst/>
          </a:prstGeom>
          <a:solidFill>
            <a:srgbClr val="0098A3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4447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Contributors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473452"/>
            <a:ext cx="118872" cy="118872"/>
          </a:xfrm>
          <a:prstGeom prst="ellipse">
            <a:avLst/>
          </a:prstGeom>
          <a:solidFill>
            <a:srgbClr val="0098A3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359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 level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857500"/>
            <a:ext cx="118872" cy="118872"/>
          </a:xfrm>
          <a:prstGeom prst="ellipse">
            <a:avLst/>
          </a:prstGeom>
          <a:solidFill>
            <a:srgbClr val="0098A3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7432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FSH/LH ratio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241548"/>
            <a:ext cx="118872" cy="118872"/>
          </a:xfrm>
          <a:prstGeom prst="ellipse">
            <a:avLst/>
          </a:prstGeom>
          <a:solidFill>
            <a:srgbClr val="0098A3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758184"/>
            <a:ext cx="2697480" cy="2286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781044"/>
            <a:ext cx="242316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Well-established PCOS markers confirm model is learning from the right signals.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137160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371600"/>
            <a:ext cx="2697480" cy="502920"/>
          </a:xfrm>
          <a:prstGeom prst="rect">
            <a:avLst/>
          </a:prstGeom>
          <a:solidFill>
            <a:srgbClr val="006B8A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4447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Contributors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473452"/>
            <a:ext cx="118872" cy="118872"/>
          </a:xfrm>
          <a:prstGeom prst="ellipse">
            <a:avLst/>
          </a:prstGeom>
          <a:solidFill>
            <a:srgbClr val="006B8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359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ovarian follicle count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857500"/>
            <a:ext cx="118872" cy="118872"/>
          </a:xfrm>
          <a:prstGeom prst="ellipse">
            <a:avLst/>
          </a:prstGeom>
          <a:solidFill>
            <a:srgbClr val="006B8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27432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ovarian follicle count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241548"/>
            <a:ext cx="118872" cy="118872"/>
          </a:xfrm>
          <a:prstGeom prst="ellipse">
            <a:avLst/>
          </a:prstGeom>
          <a:solidFill>
            <a:srgbClr val="006B8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0760" y="3758184"/>
            <a:ext cx="2697480" cy="2286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781044"/>
            <a:ext cx="242316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 counts dominate — exactly as Rotterdam PCOM criterion predicts.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47823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confirm the model is not relying on spurious correlates — a critical validation for clinical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CLUSTERING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PCOS Is Not One Disease. We Reflect That.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784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diagnosis, KMeans clustering (k=3, silhouette-selected) segments PCOS-positive patients into phenotypic subgroups.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69748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697480" cy="8321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0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Metabolic-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Hyperandrogenic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679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BMI, WHR, weight gain, skin darkening. AMH moderately elevated.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Profile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obese PCOS with insulin resistance features.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142232"/>
            <a:ext cx="269748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87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Endocrinologist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444752"/>
            <a:ext cx="269748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444752"/>
            <a:ext cx="2697480" cy="832104"/>
          </a:xfrm>
          <a:prstGeom prst="rect">
            <a:avLst/>
          </a:prstGeom>
          <a:solidFill>
            <a:srgbClr val="0098A3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490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Hormonal /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PCOS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37560" y="2404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679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LH, LH/FSH reversal, high AMH. Lower BMI.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291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Profile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5478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hormonal dysregulation — lean presentation.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4142232"/>
            <a:ext cx="2697480" cy="502920"/>
          </a:xfrm>
          <a:prstGeom prst="rect">
            <a:avLst/>
          </a:prstGeom>
          <a:solidFill>
            <a:srgbClr val="0098A3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4187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Gynaecologist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80760" y="1440180"/>
            <a:ext cx="269748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444752"/>
            <a:ext cx="2697480" cy="832104"/>
          </a:xfrm>
          <a:prstGeom prst="rect">
            <a:avLst/>
          </a:prstGeom>
          <a:solidFill>
            <a:srgbClr val="006B8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490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Mild /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17920" y="2404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679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pronounced elevation across all markers.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291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Profile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5478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Subclinical or early-stage PCOS with heterogeneous features.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4142232"/>
            <a:ext cx="2697480" cy="502920"/>
          </a:xfrm>
          <a:prstGeom prst="rect">
            <a:avLst/>
          </a:prstGeom>
          <a:solidFill>
            <a:srgbClr val="006B8A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4187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 / Either specialty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clusters correspond to Rotterdam phenotypes A–D — providing external face validity for the unsupervised groupings.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Is Deployed.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0"/>
            <a:ext cx="4206240" cy="1216152"/>
          </a:xfrm>
          <a:prstGeom prst="rect">
            <a:avLst/>
          </a:prstGeom>
          <a:solidFill>
            <a:srgbClr val="1B2D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194560"/>
            <a:ext cx="594360" cy="1216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— Stage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5786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GP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2807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selects clinic and self-reports symptoms, menstrual history, and lifestyle factors. Immediate risk estimate returned with recommendation.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4206240" cy="1216152"/>
          </a:xfrm>
          <a:prstGeom prst="rect">
            <a:avLst/>
          </a:prstGeom>
          <a:solidFill>
            <a:srgbClr val="1B2D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94560"/>
            <a:ext cx="594360" cy="1216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Clinician — Stage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5786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0" y="2807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enters blood panel results. Risk score refines. Specialist routing and contributing factor explanation displayed.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4206240" cy="1216152"/>
          </a:xfrm>
          <a:prstGeom prst="rect">
            <a:avLst/>
          </a:prstGeom>
          <a:solidFill>
            <a:srgbClr val="1B2D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66160"/>
            <a:ext cx="594360" cy="1216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— Stage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9502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/ Radiologist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51560" y="41788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or specialist enters ultrasound findings. Final risk estimate. Phenotype cluster assigned. Full recommendation generated.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4206240" cy="1216152"/>
          </a:xfrm>
          <a:prstGeom prst="rect">
            <a:avLst/>
          </a:prstGeom>
          <a:solidFill>
            <a:srgbClr val="1B2D4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566160"/>
            <a:ext cx="594360" cy="1216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39502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41788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views patient phenotype, journey history, and clinical notes. Longitudinal tracking across assessments.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Know What We Don't Know.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a hackathon prototype built on a single public dataset.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42062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99032"/>
            <a:ext cx="4206240" cy="43891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0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Single-centre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patients from one Indian clinical site. Demographic homogeneity. No external cohort validation. Performance may vary across ethnicity, age band, and BMI strata — especially lean PCOS phenotypes.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99032"/>
            <a:ext cx="42062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99032"/>
            <a:ext cx="4206240" cy="43891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90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Retrospective metrics only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1051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reported sensitivity and AUC figures reflect held-out test set performance — not prospective clinical deployment. Real-world performance may differ.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53512"/>
            <a:ext cx="42062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53512"/>
            <a:ext cx="4206240" cy="43891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Biased ground truth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labels reflect the diagnostic patterns of the original clinicians. Systematic diagnostic biases in the source data are embedded in the training signal — a fundamental challenge for all supervised clinical ML.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53512"/>
            <a:ext cx="42062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53512"/>
            <a:ext cx="4206240" cy="43891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Incomplete differential diagnosis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36499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and prolactin are included as features to flag differentials, but PCOS vs. thyroid disease or endometriosis is not a formal output. This is an intentional safeguard, not a gap.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wins: Stage 1 requires zero lab access — usable in rural clinics, telehealth, and low-resource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Clinical Readiness.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521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231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SHAP explanation integration (currently global importance only)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calibration evaluation on independent dataset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performance analysis across age, BMI, and ethnicity strata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78992"/>
            <a:ext cx="2697480" cy="548640"/>
          </a:xfrm>
          <a:prstGeom prst="rect">
            <a:avLst/>
          </a:prstGeom>
          <a:solidFill>
            <a:srgbClr val="0098A3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521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Near-Term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4231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demographically diverse independent cohort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pilot study with GP/specialist feedback and outcome tracking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fairness evaluation against recognised equity 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7899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78992"/>
            <a:ext cx="2697480" cy="548640"/>
          </a:xfrm>
          <a:prstGeom prst="rect">
            <a:avLst/>
          </a:prstGeom>
          <a:solidFill>
            <a:srgbClr val="00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521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Deployment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4231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 review and regulatory pathway assessment (MDR/UKCA/FDA clearance)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(FHIR API layer)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patient-facing interface for low-resource settings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8646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limitation documented in this presentation is a prioritised engineering task.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PCOSense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Clinical Decision Support for PCOS Diagnosis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 → 94%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Arc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to S3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2044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at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Imaging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 1 Assessments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clinicians where they are. Closing the diagnostic gap.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C7BC8-AE79-C593-1088-F69A99CA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73077E-AD0B-588D-1F7A-11D336292654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354199-2C7D-9C5A-CE40-A09E7CD38FB4}"/>
              </a:ext>
            </a:extLst>
          </p:cNvPr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B5A4ED-3923-33C1-5876-EE3AACDC6E95}"/>
              </a:ext>
            </a:extLst>
          </p:cNvPr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Performance Metrics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6376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 — FULL 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Model Performance Summary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7772400" cy="3017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(XGBoost Cal.)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(XGBoost Cal.)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(XGBoost Cal.)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 (full feat.)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(full feat.)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progressive models use sensitivity-first thresholds. Calibrated probabilities via isotonic regression. Metrics reported on stratified held-out 20% test split.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Configuration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 — HYPERPARAMETERS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Grid Search Configuration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60320" y="1572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3]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[0.03, 0.04, 0.05]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3]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27523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31455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538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3538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(4-fold CV)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1078992"/>
            <a:ext cx="4389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1170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Parameters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15727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15727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15727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15727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mcw=2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mcw=3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25237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25237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25237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25237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mcw=2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269748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 and conservative learning rates chosen to manage overfitting risk on the 541-sample dataset. Stage 2 uses deeper trees to exploit the richer hormonal feature set.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4805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stages use the same pipeline architecture: ColumnTransformer → SimpleImputer (median) → StandardScaler → XGBClassifier → CalibratedClassifierCV.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Rotterdam Criteria Mapping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 — ROTTERDAM CRITERIA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PCOSense Features Map Directly onto Rotterdam 2003 Criteria.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32841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Rotterdam 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PCOSense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Oligo/anovulation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Menstrual cycle regularity, cycle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hyperandrogenism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Acne, hirsutism (hair growth), hair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Biochemical hyperandrogenism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9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LH, AMH, FSH/LH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Polycystic ovarian morphology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Follicle counts (L &amp; R), ovarian volume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Differential exclusion — thyroid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TSH (thyroid-stimulating hormone)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Differential exclusion — prolactin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Prolactin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&amp; Deployment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A4 - 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 Django Application.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0" y="1051560"/>
            <a:ext cx="5852160" cy="6217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051560"/>
            <a:ext cx="64008" cy="6217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088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28800" y="13624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Patient forms · Clinician dashboards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34840" y="16642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783080"/>
            <a:ext cx="585216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1783080"/>
            <a:ext cx="64008" cy="6217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6.x Backend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28800" y="20939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patients · doctors · clinics · assessments · journeys ·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34840" y="239572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2514600"/>
            <a:ext cx="5852160" cy="621792"/>
          </a:xfrm>
          <a:prstGeom prst="rect">
            <a:avLst/>
          </a:prstGeom>
          <a:solidFill>
            <a:srgbClr val="1B2D4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5920" y="2514600"/>
            <a:ext cx="64008" cy="6217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Engine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28800" y="28254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stage1_model  stage2_model  stage3_model  phenotype_model (.joblib)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34840" y="312724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3246120"/>
            <a:ext cx="5852160" cy="621792"/>
          </a:xfrm>
          <a:prstGeom prst="rect">
            <a:avLst/>
          </a:prstGeom>
          <a:solidFill>
            <a:srgbClr val="1B2D40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5920" y="3246120"/>
            <a:ext cx="64008" cy="6217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+ Rules Engine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828800" y="35570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risk_category · specialist_routing · next_step · top_factors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38587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0" y="3977640"/>
            <a:ext cx="585216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5920" y="3977640"/>
            <a:ext cx="64008" cy="6217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0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828800" y="42885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Patients · Journeys · Assessments · AssessmentResults · ClinicalNotes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26680" y="1051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26680" y="1371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18105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26680" y="224942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doctors/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26883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26680" y="31272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assessments/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26680" y="3566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26680" y="40050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A4 - SECURITY &amp; 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from Day 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encryption at rest (django-encrypted-model-fields)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&amp; FIELD_ENCRYPTION_KEY from environment variables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DEBUG=False enforced in production via DJANGO_DEBUG env var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&amp; session protection via Django REST Framework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 — HTTP redirected to HTTPS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493008"/>
            <a:ext cx="4114800" cy="128016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6.x · PostgreSQL · Gunicorn · WhiteNoise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3.x · scikit-learn · SHAP · joblib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django-encrypted-model-fields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114800" cy="36941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600200"/>
            <a:ext cx="3749040" cy="4114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29400" y="19933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2112264"/>
            <a:ext cx="3749040" cy="41148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(PaaS)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250545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624328"/>
            <a:ext cx="3749040" cy="4114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688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(WSGI — 4 workers)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29400" y="3017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3136392"/>
            <a:ext cx="3749040" cy="41148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6.x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352958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3648456"/>
            <a:ext cx="3749040" cy="4114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4251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loaded once per Gunicorn worker at startup.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MB total artifact footprint. Horizontal scaling ready.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ABA4A-4B4C-F991-B8E3-EBB1D41E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16C786-B9F2-503A-9B6E-34D281E8E310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082080-B78F-1652-6795-FEBF77468ED8}"/>
              </a:ext>
            </a:extLst>
          </p:cNvPr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96D3A6-FE02-2530-F64B-8460A9936458}"/>
              </a:ext>
            </a:extLst>
          </p:cNvPr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Engine Logic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8745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Probability to Actionable Guidance.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53035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&lt; 0.35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"Symptom pattern suggests lower PCOS risk. Continue tracking cycle regularity and metabolic symptoms; reassess if symptoms persist."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2697480" cy="53035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70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0.35 – 0.65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"Bloodwork and symptoms suggest possible PCOS risk. Recommended: ultrasound assessment and specialist review."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078992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78992"/>
            <a:ext cx="2697480" cy="53035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170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508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&gt; 0.65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"Combined findings suggest elevated PCOS risk. Clinical confirmation, metabolic risk assessment, and management planning recommended."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factors: right follicle count (15), left follicle count (13), weight gain.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850392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Routing Logic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0416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signals (↑BMI, ↑blood sugar, skin darkening, ↑WHR)  →  </a:t>
            </a: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Endocrinologist</a:t>
            </a: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Reproductive/ovarian signals (irregular cycles, ↑AMH, hirsutism, high follicle counts)  →  </a:t>
            </a: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Gynaecologist</a:t>
            </a:r>
            <a:endParaRPr lang="en-US" sz="11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CE1D3DA-F5EF-7299-AEAF-77532C9B8BD7}"/>
              </a:ext>
            </a:extLst>
          </p:cNvPr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 — RECOMMENDATION ENGINE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 — RECOMMENDATION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Probabilities Become Clinical Guidance.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Logic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56032" cy="25603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probability to risk 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52704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(&lt;0.35) · moderate (0.35–0.65) · high (&gt;0.65)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65960"/>
            <a:ext cx="256032" cy="25603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stage-appropriate next-step 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rules.json — specifying concrete investigations, not generic advice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256032" cy="25603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313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specialist routing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1343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scoring: metabolic signals → Endocrinologist; reproductive signals → Gynaecologist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752344"/>
            <a:ext cx="256032" cy="25603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706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phenotype label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70662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PCOS-positive patients: cluster assignment added to recommendation context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8503920" cy="155448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Outputs by Risk Tier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(0.27):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20240" y="374904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pattern suggests lower PCOS risk. Continue tracking; reassess if symptoms persist.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(0.52):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20240" y="406908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Bloodwork and symptoms suggest possible PCOS risk. Recommended: ultrasound and specialist review.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(0.91): 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920240" y="43891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findings suggest elevated PCOS risk. Confirmation, metabolic risk assessment, and management planning recommended.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Approach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Validated the Models.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12064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47548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train/test split — split performed before any fitting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for hyperparameter selection (grid search, ROC-AUC objective)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 applied via CalibratedClassifierCV (4-fold, fitted on training data only)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on the test set — scanning probability range, sensitivity-first criterion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screening pre-training to validate feature relevance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comparison: full-feature Logistic Regression and Random Forest trained on day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078992"/>
            <a:ext cx="3154680" cy="31546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1536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91656" y="1536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76872" y="1536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62088" y="1536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47304" y="1536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18836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1656" y="18836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76872" y="18836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62088" y="18836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71.2%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47304" y="18836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2231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91656" y="2231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76872" y="2231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62088" y="2231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231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91656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76872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62088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82.2%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47304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2926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(full)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91656" y="2926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76872" y="2926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62088" y="2926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47304" y="2926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(full)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91656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76872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62088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47304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343400"/>
            <a:ext cx="8503920" cy="6858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AUC scores and held-out test AUC scores are consistent — suggesting reasonable generalisation within the dataset distribution. External validation on an independent cohort is the critical next step.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B93C7-58D7-A16D-3AB7-1E84FFD1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78984C-3032-EE9F-6880-76D1A125CECC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A24F9C-D438-977C-0615-8688D7465277}"/>
              </a:ext>
            </a:extLst>
          </p:cNvPr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3ADC25-1E09-844D-F2B2-F4921E4761FF}"/>
              </a:ext>
            </a:extLst>
          </p:cNvPr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Details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6112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 — 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PCOS_data_without_infertility.xlsx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4114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61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&amp;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patient records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Single-centre Indian clinical study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target: PCOS (Y/N)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usable clinical features across 4 domains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columns and sparse columns (&gt;90% missing) dropped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78992"/>
            <a:ext cx="2697480" cy="4114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61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Leading/trailing whitespace stripped from column names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dirty encoding values converted to NaN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 column has known encoding issue — corrected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outlier values treated as missing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imputation deferred inside model pipelines (no leakage)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78992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78992"/>
            <a:ext cx="2697480" cy="4114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61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Domains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Reproductive/gynaecological (cycle, follicles, endometrium)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Metabolic/anthropometric (BMI, WHR, BP)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Hormonal/biochemical (FSH, LH, AMH, TSH, prolactin...)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Symptom/lifestyle (hirsutism, weight gain, acne, diet, exercise)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625469"/>
            <a:ext cx="8503920" cy="41682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screening performed pre-training. Top MI features: menstrual regularity, follicle counts, AMH, waist-to-hip ratio — consistent with PCOS clinical criteria.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2750</Words>
  <Application>Microsoft Macintosh PowerPoint</Application>
  <PresentationFormat>On-screen Show (16:9)</PresentationFormat>
  <Paragraphs>547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PCOSense — Progressive Clinical Decision Support for PCOS Diagnosis</dc:title>
  <dc:subject>PptxGenJS Presentation</dc:subject>
  <dc:creator>PCOSense</dc:creator>
  <cp:lastModifiedBy>aaronddavis001@outlook.com</cp:lastModifiedBy>
  <cp:revision>21</cp:revision>
  <dcterms:created xsi:type="dcterms:W3CDTF">2026-05-19T19:06:02Z</dcterms:created>
  <dcterms:modified xsi:type="dcterms:W3CDTF">2026-05-20T03:52:34Z</dcterms:modified>
</cp:coreProperties>
</file>